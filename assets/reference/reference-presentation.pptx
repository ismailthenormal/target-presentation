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cb4ffce8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cb4ffce8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034c41d36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034c41d36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Memory can be divided into two categories: It can store </a:t>
            </a:r>
            <a:r>
              <a:rPr lang="en"/>
              <a:t>permanently</a:t>
            </a:r>
            <a:r>
              <a:rPr lang="en"/>
              <a:t> or temporarily. </a:t>
            </a:r>
            <a:r>
              <a:rPr lang="en"/>
              <a:t>Primary</a:t>
            </a:r>
            <a:r>
              <a:rPr lang="en"/>
              <a:t> memory can store data temporarily </a:t>
            </a:r>
            <a:r>
              <a:rPr lang="en"/>
              <a:t>other hand</a:t>
            </a:r>
            <a:r>
              <a:rPr lang="en"/>
              <a:t> secondary storage can store data permanently.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034c41d361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034c41d36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RAM or random access memory stores intermediate data only while using computer.  Secondary memory is long term storage HDD or CD or DVD. offline storage </a:t>
            </a:r>
            <a:r>
              <a:rPr lang="en"/>
              <a:t>cloud</a:t>
            </a:r>
            <a:r>
              <a:rPr lang="en"/>
              <a:t> storage.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034c41d36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034c41d36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Random access memory also can be </a:t>
            </a:r>
            <a:r>
              <a:rPr lang="en"/>
              <a:t>divided</a:t>
            </a:r>
            <a:r>
              <a:rPr lang="en"/>
              <a:t> into two categories: Read only memory and read-write memory. As we know already RAM is in the classification read and write memory. </a:t>
            </a:r>
            <a:endParaRPr/>
          </a:p>
          <a:p>
            <a:pPr indent="0" lvl="0" marL="0" rtl="0" algn="l">
              <a:spcBef>
                <a:spcPts val="0"/>
              </a:spcBef>
              <a:spcAft>
                <a:spcPts val="0"/>
              </a:spcAft>
              <a:buNone/>
            </a:pPr>
            <a:r>
              <a:rPr lang="en"/>
              <a:t>Read only memory or ROM we will see in a short in more detail.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034c41d36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034c41d36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034c41d36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034c41d36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034c41d361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034c41d361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034c41d36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034c41d36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034c41d361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034c41d361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034c41d36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034c41d36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034c41d361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034c41d361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034c41d361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034c41d361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034c41d361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034c41d361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034c41d361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034c41d361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034c41d361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034c41d361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034c41d361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034c41d361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034c41d361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034c41d361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034c41d361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034c41d361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034c41d361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034c41d361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034c41d361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034c41d361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034c41d361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034c41d361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034c41d361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034c41d361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034c41d361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034c41d361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034c41d361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034c41d361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034c41d361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034c41d361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034c41d361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034c41d361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faae47f88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faae47f88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6198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n" sz="2500"/>
              <a:t>Primary Memory</a:t>
            </a:r>
            <a:endParaRPr sz="2500"/>
          </a:p>
          <a:p>
            <a:pPr indent="0" lvl="0" marL="0" rtl="0" algn="ctr">
              <a:spcBef>
                <a:spcPts val="0"/>
              </a:spcBef>
              <a:spcAft>
                <a:spcPts val="0"/>
              </a:spcAft>
              <a:buClr>
                <a:schemeClr val="dk1"/>
              </a:buClr>
              <a:buSzPts val="1100"/>
              <a:buFont typeface="Arial"/>
              <a:buNone/>
            </a:pPr>
            <a:r>
              <a:rPr lang="en" sz="2500"/>
              <a:t>Week 5 </a:t>
            </a:r>
            <a:endParaRPr sz="2500"/>
          </a:p>
        </p:txBody>
      </p:sp>
      <p:sp>
        <p:nvSpPr>
          <p:cNvPr id="55" name="Google Shape;55;p13"/>
          <p:cNvSpPr txBox="1"/>
          <p:nvPr>
            <p:ph idx="1" type="subTitle"/>
          </p:nvPr>
        </p:nvSpPr>
        <p:spPr>
          <a:xfrm>
            <a:off x="311700" y="288607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600"/>
              <a:t>Basic Concepts of Computer Science</a:t>
            </a:r>
            <a:endParaRPr sz="1600"/>
          </a:p>
          <a:p>
            <a:pPr indent="0" lvl="0" marL="0" rtl="0" algn="ctr">
              <a:spcBef>
                <a:spcPts val="0"/>
              </a:spcBef>
              <a:spcAft>
                <a:spcPts val="0"/>
              </a:spcAft>
              <a:buClr>
                <a:schemeClr val="dk1"/>
              </a:buClr>
              <a:buSzPts val="1100"/>
              <a:buFont typeface="Arial"/>
              <a:buNone/>
            </a:pPr>
            <a:r>
              <a:t/>
            </a:r>
            <a:endParaRPr sz="1600"/>
          </a:p>
          <a:p>
            <a:pPr indent="0" lvl="0" marL="0" rtl="0" algn="ctr">
              <a:spcBef>
                <a:spcPts val="0"/>
              </a:spcBef>
              <a:spcAft>
                <a:spcPts val="0"/>
              </a:spcAft>
              <a:buNone/>
            </a:pPr>
            <a:r>
              <a:t/>
            </a:r>
            <a:endParaRPr sz="1600"/>
          </a:p>
        </p:txBody>
      </p:sp>
      <p:sp>
        <p:nvSpPr>
          <p:cNvPr id="56" name="Google Shape;56;p13"/>
          <p:cNvSpPr txBox="1"/>
          <p:nvPr>
            <p:ph idx="1" type="subTitle"/>
          </p:nvPr>
        </p:nvSpPr>
        <p:spPr>
          <a:xfrm>
            <a:off x="90000" y="4828875"/>
            <a:ext cx="90042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t>                                                                                                                        </a:t>
            </a:r>
            <a:endParaRPr sz="1000"/>
          </a:p>
        </p:txBody>
      </p:sp>
      <p:pic>
        <p:nvPicPr>
          <p:cNvPr id="57" name="Google Shape;57;p13"/>
          <p:cNvPicPr preferRelativeResize="0"/>
          <p:nvPr/>
        </p:nvPicPr>
        <p:blipFill>
          <a:blip r:embed="rId3">
            <a:alphaModFix/>
          </a:blip>
          <a:stretch>
            <a:fillRect/>
          </a:stretch>
        </p:blipFill>
        <p:spPr>
          <a:xfrm>
            <a:off x="26125" y="0"/>
            <a:ext cx="1677550" cy="1677550"/>
          </a:xfrm>
          <a:prstGeom prst="rect">
            <a:avLst/>
          </a:prstGeom>
          <a:noFill/>
          <a:ln>
            <a:noFill/>
          </a:ln>
        </p:spPr>
      </p:pic>
      <p:pic>
        <p:nvPicPr>
          <p:cNvPr id="58" name="Google Shape;58;p13"/>
          <p:cNvPicPr preferRelativeResize="0"/>
          <p:nvPr/>
        </p:nvPicPr>
        <p:blipFill>
          <a:blip r:embed="rId4">
            <a:alphaModFix/>
          </a:blip>
          <a:stretch>
            <a:fillRect/>
          </a:stretch>
        </p:blipFill>
        <p:spPr>
          <a:xfrm>
            <a:off x="6363575" y="3173575"/>
            <a:ext cx="2381250" cy="1581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Topics</a:t>
            </a:r>
            <a:endParaRPr/>
          </a:p>
          <a:p>
            <a:pPr indent="0" lvl="0" marL="0" rtl="0" algn="l">
              <a:spcBef>
                <a:spcPts val="0"/>
              </a:spcBef>
              <a:spcAft>
                <a:spcPts val="0"/>
              </a:spcAft>
              <a:buNone/>
            </a:pPr>
            <a:r>
              <a:t/>
            </a:r>
            <a:endParaRPr/>
          </a:p>
        </p:txBody>
      </p:sp>
      <p:sp>
        <p:nvSpPr>
          <p:cNvPr id="64" name="Google Shape;64;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55600" lvl="0" marL="457200" rtl="0" algn="l">
              <a:lnSpc>
                <a:spcPct val="115000"/>
              </a:lnSpc>
              <a:spcBef>
                <a:spcPts val="0"/>
              </a:spcBef>
              <a:spcAft>
                <a:spcPts val="0"/>
              </a:spcAft>
              <a:buClr>
                <a:schemeClr val="dk1"/>
              </a:buClr>
              <a:buSzPts val="2000"/>
              <a:buChar char="●"/>
            </a:pPr>
            <a:r>
              <a:rPr lang="en" sz="2000">
                <a:solidFill>
                  <a:schemeClr val="dk1"/>
                </a:solidFill>
              </a:rPr>
              <a:t>Purpose of Memory</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rPr>
              <a:t>RAM , ROM</a:t>
            </a:r>
            <a:endParaRPr sz="2000">
              <a:solidFill>
                <a:schemeClr val="dk1"/>
              </a:solidFill>
            </a:endParaRPr>
          </a:p>
          <a:p>
            <a:pPr indent="457200" lvl="0" marL="457200" rtl="0" algn="l">
              <a:lnSpc>
                <a:spcPct val="115000"/>
              </a:lnSpc>
              <a:spcBef>
                <a:spcPts val="0"/>
              </a:spcBef>
              <a:spcAft>
                <a:spcPts val="0"/>
              </a:spcAft>
              <a:buNone/>
            </a:pPr>
            <a:r>
              <a:rPr lang="en" sz="2000">
                <a:solidFill>
                  <a:schemeClr val="dk1"/>
                </a:solidFill>
                <a:highlight>
                  <a:srgbClr val="FFFFFF"/>
                </a:highlight>
              </a:rPr>
              <a:t>SRAM, DRAM, and VRAM.</a:t>
            </a:r>
            <a:endParaRPr sz="2000">
              <a:solidFill>
                <a:schemeClr val="dk1"/>
              </a:solidFill>
            </a:endParaRPr>
          </a:p>
          <a:p>
            <a:pPr indent="0" lvl="0" marL="914400" rtl="0" algn="l">
              <a:lnSpc>
                <a:spcPct val="115000"/>
              </a:lnSpc>
              <a:spcBef>
                <a:spcPts val="0"/>
              </a:spcBef>
              <a:spcAft>
                <a:spcPts val="0"/>
              </a:spcAft>
              <a:buNone/>
            </a:pPr>
            <a:r>
              <a:t/>
            </a:r>
            <a:endParaRPr sz="2000">
              <a:solidFill>
                <a:schemeClr val="dk1"/>
              </a:solidFill>
            </a:endParaRPr>
          </a:p>
          <a:p>
            <a:pPr indent="0" lvl="0" marL="914400" rtl="0" algn="l">
              <a:lnSpc>
                <a:spcPct val="115000"/>
              </a:lnSpc>
              <a:spcBef>
                <a:spcPts val="0"/>
              </a:spcBef>
              <a:spcAft>
                <a:spcPts val="0"/>
              </a:spcAft>
              <a:buClr>
                <a:schemeClr val="dk1"/>
              </a:buClr>
              <a:buSzPts val="1100"/>
              <a:buFont typeface="Arial"/>
              <a:buNone/>
            </a:pPr>
            <a:r>
              <a:rPr lang="en" sz="2000">
                <a:solidFill>
                  <a:schemeClr val="dk1"/>
                </a:solidFill>
              </a:rPr>
              <a:t>PROM – Programmable Read Only Memory</a:t>
            </a:r>
            <a:endParaRPr sz="2000">
              <a:solidFill>
                <a:schemeClr val="dk1"/>
              </a:solidFill>
            </a:endParaRPr>
          </a:p>
          <a:p>
            <a:pPr indent="0" lvl="0" marL="914400" rtl="0" algn="l">
              <a:lnSpc>
                <a:spcPct val="115000"/>
              </a:lnSpc>
              <a:spcBef>
                <a:spcPts val="0"/>
              </a:spcBef>
              <a:spcAft>
                <a:spcPts val="0"/>
              </a:spcAft>
              <a:buClr>
                <a:schemeClr val="dk1"/>
              </a:buClr>
              <a:buSzPts val="1100"/>
              <a:buFont typeface="Arial"/>
              <a:buNone/>
            </a:pPr>
            <a:r>
              <a:rPr lang="en" sz="2000">
                <a:solidFill>
                  <a:schemeClr val="dk1"/>
                </a:solidFill>
              </a:rPr>
              <a:t>EPROM – Erasable Programmable Read Only Memory</a:t>
            </a:r>
            <a:endParaRPr sz="2000">
              <a:solidFill>
                <a:schemeClr val="dk1"/>
              </a:solidFill>
            </a:endParaRPr>
          </a:p>
          <a:p>
            <a:pPr indent="0" lvl="0" marL="914400" rtl="0" algn="l">
              <a:lnSpc>
                <a:spcPct val="115000"/>
              </a:lnSpc>
              <a:spcBef>
                <a:spcPts val="0"/>
              </a:spcBef>
              <a:spcAft>
                <a:spcPts val="0"/>
              </a:spcAft>
              <a:buNone/>
            </a:pPr>
            <a:r>
              <a:rPr lang="en" sz="2000">
                <a:solidFill>
                  <a:schemeClr val="dk1"/>
                </a:solidFill>
              </a:rPr>
              <a:t>EEPROM – Electrically Erasable Programmable Read Only Memory</a:t>
            </a:r>
            <a:endParaRPr sz="2000">
              <a:solidFill>
                <a:schemeClr val="dk1"/>
              </a:solidFill>
            </a:endParaRPr>
          </a:p>
          <a:p>
            <a:pPr indent="0" lvl="0" marL="0" rtl="0" algn="l">
              <a:lnSpc>
                <a:spcPct val="115000"/>
              </a:lnSpc>
              <a:spcBef>
                <a:spcPts val="0"/>
              </a:spcBef>
              <a:spcAft>
                <a:spcPts val="0"/>
              </a:spcAft>
              <a:buNone/>
            </a:pPr>
            <a:r>
              <a:rPr lang="en" sz="2000">
                <a:solidFill>
                  <a:schemeClr val="dk1"/>
                </a:solidFill>
              </a:rPr>
              <a:t> SIMM vs DIMM</a:t>
            </a:r>
            <a:endParaRPr sz="2000">
              <a:solidFill>
                <a:schemeClr val="dk1"/>
              </a:solidFill>
            </a:endParaRPr>
          </a:p>
          <a:p>
            <a:pPr indent="0" lvl="0" marL="0" rtl="0" algn="l">
              <a:lnSpc>
                <a:spcPct val="115000"/>
              </a:lnSpc>
              <a:spcBef>
                <a:spcPts val="0"/>
              </a:spcBef>
              <a:spcAft>
                <a:spcPts val="0"/>
              </a:spcAft>
              <a:buNone/>
            </a:pPr>
            <a:r>
              <a:t/>
            </a:r>
            <a:endParaRPr sz="2000">
              <a:solidFill>
                <a:schemeClr val="dk1"/>
              </a:solidFill>
            </a:endParaRPr>
          </a:p>
        </p:txBody>
      </p:sp>
      <p:sp>
        <p:nvSpPr>
          <p:cNvPr id="65" name="Google Shape;65;p14"/>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66" name="Google Shape;66;p14"/>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Memory</a:t>
            </a:r>
            <a:endParaRPr/>
          </a:p>
        </p:txBody>
      </p:sp>
      <p:sp>
        <p:nvSpPr>
          <p:cNvPr id="72" name="Google Shape;72;p15"/>
          <p:cNvSpPr txBox="1"/>
          <p:nvPr>
            <p:ph idx="1" type="body"/>
          </p:nvPr>
        </p:nvSpPr>
        <p:spPr>
          <a:xfrm>
            <a:off x="311700" y="1152475"/>
            <a:ext cx="86784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dk1"/>
                </a:solidFill>
              </a:rPr>
              <a:t>Memory is an internal storage area in a computer, which is available to store data and programs either permanently or temporarily.</a:t>
            </a:r>
            <a:endParaRPr sz="2000">
              <a:solidFill>
                <a:schemeClr val="dk1"/>
              </a:solidFill>
            </a:endParaRPr>
          </a:p>
          <a:p>
            <a:pPr indent="0" lvl="0" marL="0" rtl="0" algn="l">
              <a:lnSpc>
                <a:spcPct val="115000"/>
              </a:lnSpc>
              <a:spcBef>
                <a:spcPts val="0"/>
              </a:spcBef>
              <a:spcAft>
                <a:spcPts val="0"/>
              </a:spcAft>
              <a:buNone/>
            </a:pPr>
            <a:r>
              <a:rPr lang="en" sz="2000">
                <a:solidFill>
                  <a:schemeClr val="dk1"/>
                </a:solidFill>
              </a:rPr>
              <a:t>Computer memory is broadly divided into two groups and they are:</a:t>
            </a:r>
            <a:endParaRPr sz="2000">
              <a:solidFill>
                <a:schemeClr val="dk1"/>
              </a:solidFill>
            </a:endParaRPr>
          </a:p>
          <a:p>
            <a:pPr indent="0" lvl="0" marL="0" rtl="0" algn="l">
              <a:lnSpc>
                <a:spcPct val="115000"/>
              </a:lnSpc>
              <a:spcBef>
                <a:spcPts val="0"/>
              </a:spcBef>
              <a:spcAft>
                <a:spcPts val="0"/>
              </a:spcAft>
              <a:buNone/>
            </a:pPr>
            <a:r>
              <a:t/>
            </a:r>
            <a:endParaRPr sz="2000">
              <a:solidFill>
                <a:schemeClr val="dk1"/>
              </a:solidFill>
            </a:endParaRPr>
          </a:p>
          <a:p>
            <a:pPr indent="0" lvl="0" marL="0" rtl="0" algn="l">
              <a:lnSpc>
                <a:spcPct val="115000"/>
              </a:lnSpc>
              <a:spcBef>
                <a:spcPts val="0"/>
              </a:spcBef>
              <a:spcAft>
                <a:spcPts val="0"/>
              </a:spcAft>
              <a:buNone/>
            </a:pPr>
            <a:r>
              <a:rPr lang="en" sz="2000">
                <a:solidFill>
                  <a:schemeClr val="dk1"/>
                </a:solidFill>
              </a:rPr>
              <a:t>Primary memory</a:t>
            </a:r>
            <a:endParaRPr sz="2000">
              <a:solidFill>
                <a:schemeClr val="dk1"/>
              </a:solidFill>
            </a:endParaRPr>
          </a:p>
          <a:p>
            <a:pPr indent="0" lvl="0" marL="0" rtl="0" algn="l">
              <a:lnSpc>
                <a:spcPct val="115000"/>
              </a:lnSpc>
              <a:spcBef>
                <a:spcPts val="0"/>
              </a:spcBef>
              <a:spcAft>
                <a:spcPts val="0"/>
              </a:spcAft>
              <a:buNone/>
            </a:pPr>
            <a:r>
              <a:rPr lang="en" sz="2000">
                <a:solidFill>
                  <a:schemeClr val="dk1"/>
                </a:solidFill>
              </a:rPr>
              <a:t>Secondary memory</a:t>
            </a:r>
            <a:endParaRPr sz="2000">
              <a:solidFill>
                <a:schemeClr val="dk1"/>
              </a:solidFill>
            </a:endParaRPr>
          </a:p>
        </p:txBody>
      </p:sp>
      <p:sp>
        <p:nvSpPr>
          <p:cNvPr id="73" name="Google Shape;73;p15"/>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74" name="Google Shape;74;p15"/>
          <p:cNvPicPr preferRelativeResize="0"/>
          <p:nvPr/>
        </p:nvPicPr>
        <p:blipFill>
          <a:blip r:embed="rId3">
            <a:alphaModFix/>
          </a:blip>
          <a:stretch>
            <a:fillRect/>
          </a:stretch>
        </p:blipFill>
        <p:spPr>
          <a:xfrm>
            <a:off x="8190150" y="4283600"/>
            <a:ext cx="684600" cy="684600"/>
          </a:xfrm>
          <a:prstGeom prst="rect">
            <a:avLst/>
          </a:prstGeom>
          <a:noFill/>
          <a:ln>
            <a:noFill/>
          </a:ln>
        </p:spPr>
      </p:pic>
      <p:pic>
        <p:nvPicPr>
          <p:cNvPr id="75" name="Google Shape;75;p15"/>
          <p:cNvPicPr preferRelativeResize="0"/>
          <p:nvPr/>
        </p:nvPicPr>
        <p:blipFill>
          <a:blip r:embed="rId4">
            <a:alphaModFix/>
          </a:blip>
          <a:stretch>
            <a:fillRect/>
          </a:stretch>
        </p:blipFill>
        <p:spPr>
          <a:xfrm>
            <a:off x="5686696" y="2683671"/>
            <a:ext cx="2503450" cy="1716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Classification by priority</a:t>
            </a:r>
            <a:endParaRPr/>
          </a:p>
        </p:txBody>
      </p:sp>
      <p:sp>
        <p:nvSpPr>
          <p:cNvPr id="81" name="Google Shape;81;p16"/>
          <p:cNvSpPr txBox="1"/>
          <p:nvPr>
            <p:ph idx="1" type="body"/>
          </p:nvPr>
        </p:nvSpPr>
        <p:spPr>
          <a:xfrm>
            <a:off x="311700" y="1152475"/>
            <a:ext cx="86784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rgbClr val="444444"/>
                </a:solidFill>
                <a:highlight>
                  <a:srgbClr val="FFFFFF"/>
                </a:highlight>
              </a:rPr>
              <a:t>a) </a:t>
            </a:r>
            <a:r>
              <a:rPr b="1" lang="en" sz="2000">
                <a:solidFill>
                  <a:srgbClr val="444444"/>
                </a:solidFill>
                <a:highlight>
                  <a:srgbClr val="FFFFFF"/>
                </a:highlight>
              </a:rPr>
              <a:t>Primary</a:t>
            </a:r>
            <a:r>
              <a:rPr lang="en" sz="2000">
                <a:solidFill>
                  <a:srgbClr val="444444"/>
                </a:solidFill>
                <a:highlight>
                  <a:srgbClr val="FFFFFF"/>
                </a:highlight>
              </a:rPr>
              <a:t> - storage of intermediate data</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 necessary to run the computer</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 RAM, Cache</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b) </a:t>
            </a:r>
            <a:r>
              <a:rPr b="1" lang="en" sz="2000">
                <a:solidFill>
                  <a:srgbClr val="444444"/>
                </a:solidFill>
                <a:highlight>
                  <a:srgbClr val="FFFFFF"/>
                </a:highlight>
              </a:rPr>
              <a:t>Secondary</a:t>
            </a:r>
            <a:r>
              <a:rPr lang="en" sz="2000">
                <a:solidFill>
                  <a:srgbClr val="444444"/>
                </a:solidFill>
                <a:highlight>
                  <a:srgbClr val="FFFFFF"/>
                </a:highlight>
              </a:rPr>
              <a:t> - long-term storage of data</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 HDD</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c) </a:t>
            </a:r>
            <a:r>
              <a:rPr b="1" lang="en" sz="2000">
                <a:solidFill>
                  <a:srgbClr val="444444"/>
                </a:solidFill>
                <a:highlight>
                  <a:srgbClr val="FFFFFF"/>
                </a:highlight>
              </a:rPr>
              <a:t>T</a:t>
            </a:r>
            <a:r>
              <a:rPr b="1" lang="en" sz="2000">
                <a:solidFill>
                  <a:srgbClr val="444444"/>
                </a:solidFill>
                <a:highlight>
                  <a:srgbClr val="FFFFFF"/>
                </a:highlight>
              </a:rPr>
              <a:t>ertiary</a:t>
            </a:r>
            <a:r>
              <a:rPr lang="en" sz="2000">
                <a:solidFill>
                  <a:srgbClr val="444444"/>
                </a:solidFill>
                <a:highlight>
                  <a:srgbClr val="FFFFFF"/>
                </a:highlight>
              </a:rPr>
              <a:t> - CD, DVD,</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d) </a:t>
            </a:r>
            <a:r>
              <a:rPr b="1" lang="en" sz="2000">
                <a:solidFill>
                  <a:srgbClr val="444444"/>
                </a:solidFill>
                <a:highlight>
                  <a:srgbClr val="FFFFFF"/>
                </a:highlight>
              </a:rPr>
              <a:t>Off-line</a:t>
            </a:r>
            <a:r>
              <a:rPr lang="en" sz="2000">
                <a:solidFill>
                  <a:srgbClr val="444444"/>
                </a:solidFill>
                <a:highlight>
                  <a:srgbClr val="FFFFFF"/>
                </a:highlight>
              </a:rPr>
              <a:t> - disconnected storage</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 unplugged USB flash drive</a:t>
            </a:r>
            <a:endParaRPr sz="2000">
              <a:solidFill>
                <a:srgbClr val="444444"/>
              </a:solidFill>
              <a:highlight>
                <a:srgbClr val="FFFFFF"/>
              </a:highlight>
            </a:endParaRPr>
          </a:p>
        </p:txBody>
      </p:sp>
      <p:sp>
        <p:nvSpPr>
          <p:cNvPr id="82" name="Google Shape;82;p16"/>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83" name="Google Shape;83;p16"/>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Classification by access</a:t>
            </a:r>
            <a:endParaRPr/>
          </a:p>
        </p:txBody>
      </p:sp>
      <p:sp>
        <p:nvSpPr>
          <p:cNvPr id="89" name="Google Shape;89;p17"/>
          <p:cNvSpPr txBox="1"/>
          <p:nvPr>
            <p:ph idx="1" type="body"/>
          </p:nvPr>
        </p:nvSpPr>
        <p:spPr>
          <a:xfrm>
            <a:off x="311700" y="1152475"/>
            <a:ext cx="86784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2400">
                <a:solidFill>
                  <a:srgbClr val="444444"/>
                </a:solidFill>
                <a:highlight>
                  <a:srgbClr val="FFFFFF"/>
                </a:highlight>
              </a:rPr>
              <a:t>Read-Only Memory</a:t>
            </a:r>
            <a:endParaRPr sz="2400">
              <a:solidFill>
                <a:srgbClr val="444444"/>
              </a:solidFill>
              <a:highlight>
                <a:srgbClr val="FFFFFF"/>
              </a:highlight>
            </a:endParaRPr>
          </a:p>
          <a:p>
            <a:pPr indent="0" lvl="0" marL="0" rtl="0" algn="just">
              <a:spcBef>
                <a:spcPts val="0"/>
              </a:spcBef>
              <a:spcAft>
                <a:spcPts val="0"/>
              </a:spcAft>
              <a:buNone/>
            </a:pPr>
            <a:r>
              <a:rPr lang="en" sz="2400">
                <a:solidFill>
                  <a:srgbClr val="444444"/>
                </a:solidFill>
                <a:highlight>
                  <a:srgbClr val="FFFFFF"/>
                </a:highlight>
              </a:rPr>
              <a:t>Read-Write Memory</a:t>
            </a:r>
            <a:endParaRPr sz="2400">
              <a:solidFill>
                <a:srgbClr val="444444"/>
              </a:solidFill>
              <a:highlight>
                <a:srgbClr val="FFFFFF"/>
              </a:highlight>
            </a:endParaRPr>
          </a:p>
          <a:p>
            <a:pPr indent="0" lvl="0" marL="0" rtl="0" algn="l">
              <a:lnSpc>
                <a:spcPct val="115000"/>
              </a:lnSpc>
              <a:spcBef>
                <a:spcPts val="0"/>
              </a:spcBef>
              <a:spcAft>
                <a:spcPts val="0"/>
              </a:spcAft>
              <a:buNone/>
            </a:pPr>
            <a:r>
              <a:t/>
            </a:r>
            <a:endParaRPr sz="2000">
              <a:solidFill>
                <a:srgbClr val="444444"/>
              </a:solidFill>
              <a:highlight>
                <a:srgbClr val="FFFFFF"/>
              </a:highlight>
            </a:endParaRPr>
          </a:p>
        </p:txBody>
      </p:sp>
      <p:sp>
        <p:nvSpPr>
          <p:cNvPr id="90" name="Google Shape;90;p17"/>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91" name="Google Shape;91;p17"/>
          <p:cNvPicPr preferRelativeResize="0"/>
          <p:nvPr/>
        </p:nvPicPr>
        <p:blipFill>
          <a:blip r:embed="rId3">
            <a:alphaModFix/>
          </a:blip>
          <a:stretch>
            <a:fillRect/>
          </a:stretch>
        </p:blipFill>
        <p:spPr>
          <a:xfrm>
            <a:off x="8190150" y="4283600"/>
            <a:ext cx="684600" cy="684600"/>
          </a:xfrm>
          <a:prstGeom prst="rect">
            <a:avLst/>
          </a:prstGeom>
          <a:noFill/>
          <a:ln>
            <a:noFill/>
          </a:ln>
        </p:spPr>
      </p:pic>
      <p:pic>
        <p:nvPicPr>
          <p:cNvPr id="92" name="Google Shape;92;p17"/>
          <p:cNvPicPr preferRelativeResize="0"/>
          <p:nvPr/>
        </p:nvPicPr>
        <p:blipFill>
          <a:blip r:embed="rId4">
            <a:alphaModFix/>
          </a:blip>
          <a:stretch>
            <a:fillRect/>
          </a:stretch>
        </p:blipFill>
        <p:spPr>
          <a:xfrm>
            <a:off x="4572000" y="595338"/>
            <a:ext cx="3682226" cy="37757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Volatile</a:t>
            </a:r>
            <a:r>
              <a:rPr lang="en"/>
              <a:t> vs Non </a:t>
            </a:r>
            <a:r>
              <a:rPr lang="en"/>
              <a:t>Volatile</a:t>
            </a:r>
            <a:r>
              <a:rPr lang="en"/>
              <a:t> memory</a:t>
            </a:r>
            <a:endParaRPr/>
          </a:p>
        </p:txBody>
      </p:sp>
      <p:sp>
        <p:nvSpPr>
          <p:cNvPr id="98" name="Google Shape;98;p18"/>
          <p:cNvSpPr txBox="1"/>
          <p:nvPr>
            <p:ph idx="1" type="body"/>
          </p:nvPr>
        </p:nvSpPr>
        <p:spPr>
          <a:xfrm>
            <a:off x="311700" y="1152475"/>
            <a:ext cx="86784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2000">
              <a:solidFill>
                <a:srgbClr val="444444"/>
              </a:solidFill>
              <a:highlight>
                <a:srgbClr val="FFFFFF"/>
              </a:highlight>
            </a:endParaRPr>
          </a:p>
          <a:p>
            <a:pPr indent="0" lvl="0" marL="0" rtl="0" algn="l">
              <a:lnSpc>
                <a:spcPct val="115000"/>
              </a:lnSpc>
              <a:spcBef>
                <a:spcPts val="0"/>
              </a:spcBef>
              <a:spcAft>
                <a:spcPts val="0"/>
              </a:spcAft>
              <a:buNone/>
            </a:pPr>
            <a:r>
              <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Volatile - requires constant power to maintain the stored information</a:t>
            </a:r>
            <a:endParaRPr sz="2000">
              <a:solidFill>
                <a:srgbClr val="444444"/>
              </a:solidFill>
              <a:highlight>
                <a:srgbClr val="FFFFFF"/>
              </a:highlight>
            </a:endParaRPr>
          </a:p>
          <a:p>
            <a:pPr indent="0" lvl="0" marL="0" rtl="0" algn="l">
              <a:lnSpc>
                <a:spcPct val="115000"/>
              </a:lnSpc>
              <a:spcBef>
                <a:spcPts val="0"/>
              </a:spcBef>
              <a:spcAft>
                <a:spcPts val="0"/>
              </a:spcAft>
              <a:buNone/>
            </a:pPr>
            <a:r>
              <a:t/>
            </a:r>
            <a:endParaRPr sz="2000">
              <a:solidFill>
                <a:srgbClr val="444444"/>
              </a:solidFill>
              <a:highlight>
                <a:srgbClr val="FFFFFF"/>
              </a:highlight>
            </a:endParaRPr>
          </a:p>
          <a:p>
            <a:pPr indent="0" lvl="0" marL="0" rtl="0" algn="l">
              <a:spcBef>
                <a:spcPts val="0"/>
              </a:spcBef>
              <a:spcAft>
                <a:spcPts val="0"/>
              </a:spcAft>
              <a:buNone/>
            </a:pPr>
            <a:r>
              <a:rPr lang="en" sz="2000">
                <a:solidFill>
                  <a:srgbClr val="444444"/>
                </a:solidFill>
                <a:highlight>
                  <a:srgbClr val="FFFFFF"/>
                </a:highlight>
              </a:rPr>
              <a:t>N</a:t>
            </a:r>
            <a:r>
              <a:rPr lang="en" sz="2000">
                <a:solidFill>
                  <a:srgbClr val="444444"/>
                </a:solidFill>
                <a:highlight>
                  <a:srgbClr val="FFFFFF"/>
                </a:highlight>
              </a:rPr>
              <a:t>on-volatile - stores the information even without power supply</a:t>
            </a:r>
            <a:br>
              <a:rPr lang="en" sz="2000">
                <a:solidFill>
                  <a:srgbClr val="444444"/>
                </a:solidFill>
                <a:highlight>
                  <a:srgbClr val="FFFFFF"/>
                </a:highlight>
              </a:rPr>
            </a:br>
            <a:br>
              <a:rPr lang="en" sz="2000">
                <a:solidFill>
                  <a:srgbClr val="444444"/>
                </a:solidFill>
                <a:highlight>
                  <a:srgbClr val="FFFFFF"/>
                </a:highlight>
              </a:rPr>
            </a:br>
            <a:r>
              <a:rPr lang="en" sz="2000">
                <a:solidFill>
                  <a:srgbClr val="444444"/>
                </a:solidFill>
                <a:highlight>
                  <a:srgbClr val="FFFFFF"/>
                </a:highlight>
              </a:rPr>
              <a:t>Examples ?</a:t>
            </a:r>
            <a:endParaRPr sz="2000">
              <a:solidFill>
                <a:srgbClr val="444444"/>
              </a:solidFill>
              <a:highlight>
                <a:srgbClr val="FFFFFF"/>
              </a:highlight>
            </a:endParaRPr>
          </a:p>
          <a:p>
            <a:pPr indent="0" lvl="0" marL="0" rtl="0" algn="l">
              <a:lnSpc>
                <a:spcPct val="115000"/>
              </a:lnSpc>
              <a:spcBef>
                <a:spcPts val="0"/>
              </a:spcBef>
              <a:spcAft>
                <a:spcPts val="0"/>
              </a:spcAft>
              <a:buNone/>
            </a:pPr>
            <a:r>
              <a:t/>
            </a:r>
            <a:endParaRPr sz="2000">
              <a:solidFill>
                <a:srgbClr val="444444"/>
              </a:solidFill>
              <a:highlight>
                <a:srgbClr val="FFFFFF"/>
              </a:highlight>
            </a:endParaRPr>
          </a:p>
          <a:p>
            <a:pPr indent="0" lvl="0" marL="0" rtl="0" algn="l">
              <a:lnSpc>
                <a:spcPct val="115000"/>
              </a:lnSpc>
              <a:spcBef>
                <a:spcPts val="0"/>
              </a:spcBef>
              <a:spcAft>
                <a:spcPts val="0"/>
              </a:spcAft>
              <a:buNone/>
            </a:pPr>
            <a:r>
              <a:t/>
            </a:r>
            <a:endParaRPr sz="2000">
              <a:solidFill>
                <a:srgbClr val="444444"/>
              </a:solidFill>
              <a:highlight>
                <a:srgbClr val="FFFFFF"/>
              </a:highlight>
            </a:endParaRPr>
          </a:p>
          <a:p>
            <a:pPr indent="0" lvl="0" marL="0" rtl="0" algn="l">
              <a:lnSpc>
                <a:spcPct val="115000"/>
              </a:lnSpc>
              <a:spcBef>
                <a:spcPts val="0"/>
              </a:spcBef>
              <a:spcAft>
                <a:spcPts val="0"/>
              </a:spcAft>
              <a:buNone/>
            </a:pPr>
            <a:r>
              <a:t/>
            </a:r>
            <a:endParaRPr sz="2000">
              <a:solidFill>
                <a:srgbClr val="444444"/>
              </a:solidFill>
              <a:highlight>
                <a:srgbClr val="FFFFFF"/>
              </a:highlight>
            </a:endParaRPr>
          </a:p>
        </p:txBody>
      </p:sp>
      <p:sp>
        <p:nvSpPr>
          <p:cNvPr id="99" name="Google Shape;99;p18"/>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100" name="Google Shape;100;p18"/>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Primary </a:t>
            </a:r>
            <a:r>
              <a:rPr lang="en"/>
              <a:t>Memory</a:t>
            </a:r>
            <a:endParaRPr/>
          </a:p>
        </p:txBody>
      </p:sp>
      <p:sp>
        <p:nvSpPr>
          <p:cNvPr id="106" name="Google Shape;106;p19"/>
          <p:cNvSpPr txBox="1"/>
          <p:nvPr>
            <p:ph idx="1" type="body"/>
          </p:nvPr>
        </p:nvSpPr>
        <p:spPr>
          <a:xfrm>
            <a:off x="311700" y="1152475"/>
            <a:ext cx="86784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dk1"/>
                </a:solidFill>
              </a:rPr>
              <a:t>Primary memory is the only type of memory which is directly accessed by the CPU. The CPU continuously reads instructions stored in the primary memory and executes them. </a:t>
            </a:r>
            <a:endParaRPr sz="2000">
              <a:solidFill>
                <a:schemeClr val="dk1"/>
              </a:solidFill>
            </a:endParaRPr>
          </a:p>
          <a:p>
            <a:pPr indent="0" lvl="0" marL="0" rtl="0" algn="l">
              <a:lnSpc>
                <a:spcPct val="115000"/>
              </a:lnSpc>
              <a:spcBef>
                <a:spcPts val="0"/>
              </a:spcBef>
              <a:spcAft>
                <a:spcPts val="0"/>
              </a:spcAft>
              <a:buNone/>
            </a:pPr>
            <a:r>
              <a:t/>
            </a:r>
            <a:endParaRPr sz="2000">
              <a:solidFill>
                <a:schemeClr val="dk1"/>
              </a:solidFill>
            </a:endParaRPr>
          </a:p>
          <a:p>
            <a:pPr indent="0" lvl="0" marL="0" rtl="0" algn="l">
              <a:lnSpc>
                <a:spcPct val="115000"/>
              </a:lnSpc>
              <a:spcBef>
                <a:spcPts val="0"/>
              </a:spcBef>
              <a:spcAft>
                <a:spcPts val="0"/>
              </a:spcAft>
              <a:buNone/>
            </a:pPr>
            <a:r>
              <a:rPr lang="en" sz="2000">
                <a:solidFill>
                  <a:schemeClr val="dk1"/>
                </a:solidFill>
              </a:rPr>
              <a:t>Any data that has to be operated by the CPU is also stored. The information is transferred to various locations through the BUS. Primary memories are of two types. They are:</a:t>
            </a:r>
            <a:endParaRPr sz="2000">
              <a:solidFill>
                <a:schemeClr val="dk1"/>
              </a:solidFill>
            </a:endParaRPr>
          </a:p>
          <a:p>
            <a:pPr indent="0" lvl="0" marL="0" rtl="0" algn="l">
              <a:lnSpc>
                <a:spcPct val="115000"/>
              </a:lnSpc>
              <a:spcBef>
                <a:spcPts val="0"/>
              </a:spcBef>
              <a:spcAft>
                <a:spcPts val="0"/>
              </a:spcAft>
              <a:buNone/>
            </a:pPr>
            <a:r>
              <a:rPr lang="en" sz="2000">
                <a:solidFill>
                  <a:schemeClr val="dk1"/>
                </a:solidFill>
              </a:rPr>
              <a:t>ROM</a:t>
            </a:r>
            <a:br>
              <a:rPr lang="en" sz="2000">
                <a:solidFill>
                  <a:schemeClr val="dk1"/>
                </a:solidFill>
              </a:rPr>
            </a:br>
            <a:r>
              <a:rPr lang="en" sz="2000">
                <a:solidFill>
                  <a:schemeClr val="dk1"/>
                </a:solidFill>
              </a:rPr>
              <a:t>RAM</a:t>
            </a:r>
            <a:endParaRPr sz="2000">
              <a:solidFill>
                <a:schemeClr val="dk1"/>
              </a:solidFill>
            </a:endParaRPr>
          </a:p>
          <a:p>
            <a:pPr indent="0" lvl="0" marL="0" rtl="0" algn="l">
              <a:lnSpc>
                <a:spcPct val="115000"/>
              </a:lnSpc>
              <a:spcBef>
                <a:spcPts val="0"/>
              </a:spcBef>
              <a:spcAft>
                <a:spcPts val="0"/>
              </a:spcAft>
              <a:buNone/>
            </a:pPr>
            <a:r>
              <a:t/>
            </a:r>
            <a:endParaRPr sz="2000">
              <a:solidFill>
                <a:schemeClr val="dk1"/>
              </a:solidFill>
            </a:endParaRPr>
          </a:p>
        </p:txBody>
      </p:sp>
      <p:sp>
        <p:nvSpPr>
          <p:cNvPr id="107" name="Google Shape;107;p19"/>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108" name="Google Shape;108;p19"/>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ROM</a:t>
            </a:r>
            <a:endParaRPr/>
          </a:p>
        </p:txBody>
      </p:sp>
      <p:sp>
        <p:nvSpPr>
          <p:cNvPr id="114" name="Google Shape;114;p20"/>
          <p:cNvSpPr txBox="1"/>
          <p:nvPr>
            <p:ph idx="1" type="body"/>
          </p:nvPr>
        </p:nvSpPr>
        <p:spPr>
          <a:xfrm>
            <a:off x="311700" y="1152475"/>
            <a:ext cx="86784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rgbClr val="444444"/>
                </a:solidFill>
                <a:highlight>
                  <a:srgbClr val="FFFFFF"/>
                </a:highlight>
              </a:rPr>
              <a:t>It stands for Read Only Memory. In this, the data will be furnished by the manufacturers regarding the system, so this information can simply be read by the user but cannot add new data or it cannot be modified. ROMs are of distinct types:</a:t>
            </a:r>
            <a:endParaRPr sz="2000">
              <a:solidFill>
                <a:srgbClr val="444444"/>
              </a:solidFill>
              <a:highlight>
                <a:srgbClr val="FFFFFF"/>
              </a:highlight>
            </a:endParaRPr>
          </a:p>
          <a:p>
            <a:pPr indent="0" lvl="0" marL="0" rtl="0" algn="l">
              <a:lnSpc>
                <a:spcPct val="115000"/>
              </a:lnSpc>
              <a:spcBef>
                <a:spcPts val="0"/>
              </a:spcBef>
              <a:spcAft>
                <a:spcPts val="0"/>
              </a:spcAft>
              <a:buNone/>
            </a:pPr>
            <a:r>
              <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FF0000"/>
                </a:solidFill>
                <a:highlight>
                  <a:srgbClr val="FFFFFF"/>
                </a:highlight>
              </a:rPr>
              <a:t>MROM </a:t>
            </a:r>
            <a:r>
              <a:rPr lang="en" sz="2000">
                <a:solidFill>
                  <a:srgbClr val="444444"/>
                </a:solidFill>
                <a:highlight>
                  <a:srgbClr val="FFFFFF"/>
                </a:highlight>
              </a:rPr>
              <a:t>(Mask Read-Only Memory)</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0645AD"/>
                </a:solidFill>
                <a:highlight>
                  <a:srgbClr val="FFFFFF"/>
                </a:highlight>
              </a:rPr>
              <a:t>PROM </a:t>
            </a:r>
            <a:r>
              <a:rPr lang="en" sz="2000">
                <a:solidFill>
                  <a:srgbClr val="444444"/>
                </a:solidFill>
                <a:highlight>
                  <a:srgbClr val="FFFFFF"/>
                </a:highlight>
              </a:rPr>
              <a:t>(Programmable Read-Only Memory)</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FF00FF"/>
                </a:solidFill>
                <a:highlight>
                  <a:srgbClr val="FFFFFF"/>
                </a:highlight>
              </a:rPr>
              <a:t>EPROM </a:t>
            </a:r>
            <a:r>
              <a:rPr lang="en" sz="2000">
                <a:solidFill>
                  <a:srgbClr val="444444"/>
                </a:solidFill>
                <a:highlight>
                  <a:srgbClr val="FFFFFF"/>
                </a:highlight>
              </a:rPr>
              <a:t>(Erasable Programmable Read-Only Memory)</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EEPROM (Electrically Erasable Programmable Read-Only Memory)</a:t>
            </a:r>
            <a:endParaRPr sz="2000">
              <a:solidFill>
                <a:srgbClr val="444444"/>
              </a:solidFill>
              <a:highlight>
                <a:srgbClr val="FFFFFF"/>
              </a:highlight>
            </a:endParaRPr>
          </a:p>
        </p:txBody>
      </p:sp>
      <p:sp>
        <p:nvSpPr>
          <p:cNvPr id="115" name="Google Shape;115;p20"/>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116" name="Google Shape;116;p20"/>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00"/>
                </a:solidFill>
              </a:rPr>
              <a:t>MROM </a:t>
            </a:r>
            <a:r>
              <a:rPr lang="en"/>
              <a:t>(Mask Read-Only Memory)</a:t>
            </a:r>
            <a:endParaRPr/>
          </a:p>
        </p:txBody>
      </p:sp>
      <p:sp>
        <p:nvSpPr>
          <p:cNvPr id="122" name="Google Shape;122;p21"/>
          <p:cNvSpPr txBox="1"/>
          <p:nvPr>
            <p:ph idx="1" type="body"/>
          </p:nvPr>
        </p:nvSpPr>
        <p:spPr>
          <a:xfrm>
            <a:off x="311700" y="1152475"/>
            <a:ext cx="86784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rgbClr val="444444"/>
                </a:solidFill>
                <a:highlight>
                  <a:srgbClr val="FFFFFF"/>
                </a:highlight>
              </a:rPr>
              <a:t>its content is programmed by manufacturer not by user</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then we can use it only for reading</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the oldest type of ROM</a:t>
            </a:r>
            <a:endParaRPr sz="2000">
              <a:solidFill>
                <a:srgbClr val="444444"/>
              </a:solidFill>
              <a:highlight>
                <a:srgbClr val="FFFFFF"/>
              </a:highlight>
            </a:endParaRPr>
          </a:p>
        </p:txBody>
      </p:sp>
      <p:sp>
        <p:nvSpPr>
          <p:cNvPr id="123" name="Google Shape;123;p21"/>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124" name="Google Shape;124;p21"/>
          <p:cNvPicPr preferRelativeResize="0"/>
          <p:nvPr/>
        </p:nvPicPr>
        <p:blipFill>
          <a:blip r:embed="rId3">
            <a:alphaModFix/>
          </a:blip>
          <a:stretch>
            <a:fillRect/>
          </a:stretch>
        </p:blipFill>
        <p:spPr>
          <a:xfrm>
            <a:off x="8190150" y="4283600"/>
            <a:ext cx="684600" cy="684600"/>
          </a:xfrm>
          <a:prstGeom prst="rect">
            <a:avLst/>
          </a:prstGeom>
          <a:noFill/>
          <a:ln>
            <a:noFill/>
          </a:ln>
        </p:spPr>
      </p:pic>
      <p:pic>
        <p:nvPicPr>
          <p:cNvPr id="125" name="Google Shape;125;p21"/>
          <p:cNvPicPr preferRelativeResize="0"/>
          <p:nvPr/>
        </p:nvPicPr>
        <p:blipFill>
          <a:blip r:embed="rId4">
            <a:alphaModFix/>
          </a:blip>
          <a:stretch>
            <a:fillRect/>
          </a:stretch>
        </p:blipFill>
        <p:spPr>
          <a:xfrm>
            <a:off x="5228750" y="2286875"/>
            <a:ext cx="2857500" cy="1809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00"/>
                </a:solidFill>
              </a:rPr>
              <a:t>MROM</a:t>
            </a:r>
            <a:r>
              <a:rPr lang="en"/>
              <a:t> (Mask Read-Only Memory)</a:t>
            </a:r>
            <a:endParaRPr/>
          </a:p>
        </p:txBody>
      </p:sp>
      <p:sp>
        <p:nvSpPr>
          <p:cNvPr id="131" name="Google Shape;131;p22"/>
          <p:cNvSpPr txBox="1"/>
          <p:nvPr>
            <p:ph idx="1" type="body"/>
          </p:nvPr>
        </p:nvSpPr>
        <p:spPr>
          <a:xfrm>
            <a:off x="311700" y="1152475"/>
            <a:ext cx="86784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rgbClr val="666666"/>
                </a:solidFill>
                <a:highlight>
                  <a:srgbClr val="FFFFFF"/>
                </a:highlight>
              </a:rPr>
              <a:t>In high volumes, mask read-only memory (ROM) is a cost-effective alternative </a:t>
            </a:r>
            <a:endParaRPr>
              <a:solidFill>
                <a:srgbClr val="666666"/>
              </a:solidFill>
              <a:highlight>
                <a:srgbClr val="FFFFFF"/>
              </a:highlight>
            </a:endParaRPr>
          </a:p>
          <a:p>
            <a:pPr indent="0" lvl="0" marL="0" rtl="0" algn="l">
              <a:lnSpc>
                <a:spcPct val="115000"/>
              </a:lnSpc>
              <a:spcBef>
                <a:spcPts val="0"/>
              </a:spcBef>
              <a:spcAft>
                <a:spcPts val="0"/>
              </a:spcAft>
              <a:buNone/>
            </a:pPr>
            <a:r>
              <a:t/>
            </a:r>
            <a:endParaRPr>
              <a:solidFill>
                <a:srgbClr val="666666"/>
              </a:solidFill>
              <a:highlight>
                <a:srgbClr val="FFFFFF"/>
              </a:highlight>
            </a:endParaRPr>
          </a:p>
          <a:p>
            <a:pPr indent="0" lvl="0" marL="0" rtl="0" algn="l">
              <a:lnSpc>
                <a:spcPct val="115000"/>
              </a:lnSpc>
              <a:spcBef>
                <a:spcPts val="0"/>
              </a:spcBef>
              <a:spcAft>
                <a:spcPts val="0"/>
              </a:spcAft>
              <a:buNone/>
            </a:pPr>
            <a:r>
              <a:rPr lang="en">
                <a:solidFill>
                  <a:srgbClr val="666666"/>
                </a:solidFill>
                <a:highlight>
                  <a:srgbClr val="FFFFFF"/>
                </a:highlight>
              </a:rPr>
              <a:t>Mask ROM (MROM) chips are used in computer systems that require long-term sustainability. Examples of computer systems that use Mask ROM chips or MROM chips include network operating systems and server operating systems.</a:t>
            </a:r>
            <a:endParaRPr>
              <a:solidFill>
                <a:srgbClr val="666666"/>
              </a:solidFill>
              <a:highlight>
                <a:srgbClr val="FFFFFF"/>
              </a:highlight>
            </a:endParaRPr>
          </a:p>
          <a:p>
            <a:pPr indent="0" lvl="0" marL="0" rtl="0" algn="l">
              <a:lnSpc>
                <a:spcPct val="115000"/>
              </a:lnSpc>
              <a:spcBef>
                <a:spcPts val="0"/>
              </a:spcBef>
              <a:spcAft>
                <a:spcPts val="0"/>
              </a:spcAft>
              <a:buNone/>
            </a:pPr>
            <a:r>
              <a:t/>
            </a:r>
            <a:endParaRPr>
              <a:solidFill>
                <a:srgbClr val="666666"/>
              </a:solidFill>
              <a:highlight>
                <a:srgbClr val="FFFFFF"/>
              </a:highlight>
            </a:endParaRPr>
          </a:p>
        </p:txBody>
      </p:sp>
      <p:sp>
        <p:nvSpPr>
          <p:cNvPr id="132" name="Google Shape;132;p22"/>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133" name="Google Shape;133;p22"/>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645AD"/>
                </a:solidFill>
              </a:rPr>
              <a:t>PROM</a:t>
            </a:r>
            <a:r>
              <a:rPr lang="en"/>
              <a:t> (Programmable Read-Only Memory)</a:t>
            </a:r>
            <a:endParaRPr/>
          </a:p>
        </p:txBody>
      </p:sp>
      <p:sp>
        <p:nvSpPr>
          <p:cNvPr id="139" name="Google Shape;139;p23"/>
          <p:cNvSpPr txBox="1"/>
          <p:nvPr>
            <p:ph idx="1" type="body"/>
          </p:nvPr>
        </p:nvSpPr>
        <p:spPr>
          <a:xfrm>
            <a:off x="311700" y="1152475"/>
            <a:ext cx="6288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rgbClr val="444444"/>
                </a:solidFill>
                <a:highlight>
                  <a:srgbClr val="FFFFFF"/>
                </a:highlight>
              </a:rPr>
              <a:t>A (PROM) is a form of digital memory where the setting of each bit is locked by a fuse or antifuse.</a:t>
            </a:r>
            <a:endParaRPr sz="2000">
              <a:solidFill>
                <a:srgbClr val="444444"/>
              </a:solidFill>
              <a:highlight>
                <a:srgbClr val="FFFFFF"/>
              </a:highlight>
            </a:endParaRPr>
          </a:p>
          <a:p>
            <a:pPr indent="0" lvl="0" marL="0" rtl="0" algn="l">
              <a:lnSpc>
                <a:spcPct val="115000"/>
              </a:lnSpc>
              <a:spcBef>
                <a:spcPts val="0"/>
              </a:spcBef>
              <a:spcAft>
                <a:spcPts val="0"/>
              </a:spcAft>
              <a:buNone/>
            </a:pPr>
            <a:r>
              <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The data in them are permanent and cannot be changed.</a:t>
            </a:r>
            <a:endParaRPr sz="2000">
              <a:solidFill>
                <a:srgbClr val="444444"/>
              </a:solidFill>
              <a:highlight>
                <a:srgbClr val="FFFFFF"/>
              </a:highlight>
            </a:endParaRPr>
          </a:p>
          <a:p>
            <a:pPr indent="0" lvl="0" marL="0" rtl="0" algn="l">
              <a:lnSpc>
                <a:spcPct val="115000"/>
              </a:lnSpc>
              <a:spcBef>
                <a:spcPts val="0"/>
              </a:spcBef>
              <a:spcAft>
                <a:spcPts val="0"/>
              </a:spcAft>
              <a:buNone/>
            </a:pPr>
            <a:r>
              <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PROMs are used in digital electronic devices to store permanent data, usually low level programs such as firmware or microcode.</a:t>
            </a:r>
            <a:endParaRPr sz="2000">
              <a:solidFill>
                <a:srgbClr val="444444"/>
              </a:solidFill>
              <a:highlight>
                <a:srgbClr val="FFFFFF"/>
              </a:highlight>
            </a:endParaRPr>
          </a:p>
        </p:txBody>
      </p:sp>
      <p:sp>
        <p:nvSpPr>
          <p:cNvPr id="140" name="Google Shape;140;p23"/>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141" name="Google Shape;141;p23"/>
          <p:cNvPicPr preferRelativeResize="0"/>
          <p:nvPr/>
        </p:nvPicPr>
        <p:blipFill>
          <a:blip r:embed="rId3">
            <a:alphaModFix/>
          </a:blip>
          <a:stretch>
            <a:fillRect/>
          </a:stretch>
        </p:blipFill>
        <p:spPr>
          <a:xfrm>
            <a:off x="8190150" y="4283600"/>
            <a:ext cx="684600" cy="684600"/>
          </a:xfrm>
          <a:prstGeom prst="rect">
            <a:avLst/>
          </a:prstGeom>
          <a:noFill/>
          <a:ln>
            <a:noFill/>
          </a:ln>
        </p:spPr>
      </p:pic>
      <p:pic>
        <p:nvPicPr>
          <p:cNvPr id="142" name="Google Shape;142;p23"/>
          <p:cNvPicPr preferRelativeResize="0"/>
          <p:nvPr/>
        </p:nvPicPr>
        <p:blipFill>
          <a:blip r:embed="rId4">
            <a:alphaModFix/>
          </a:blip>
          <a:stretch>
            <a:fillRect/>
          </a:stretch>
        </p:blipFill>
        <p:spPr>
          <a:xfrm>
            <a:off x="6776950" y="1764846"/>
            <a:ext cx="2055350" cy="1158450"/>
          </a:xfrm>
          <a:prstGeom prst="rect">
            <a:avLst/>
          </a:prstGeom>
          <a:noFill/>
          <a:ln>
            <a:noFill/>
          </a:ln>
        </p:spPr>
      </p:pic>
      <p:sp>
        <p:nvSpPr>
          <p:cNvPr id="143" name="Google Shape;143;p23"/>
          <p:cNvSpPr txBox="1"/>
          <p:nvPr/>
        </p:nvSpPr>
        <p:spPr>
          <a:xfrm>
            <a:off x="6776950" y="2965000"/>
            <a:ext cx="2097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Texas Instruments PROM type TBP18SA030N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645AD"/>
                </a:solidFill>
              </a:rPr>
              <a:t>PROM </a:t>
            </a:r>
            <a:r>
              <a:rPr lang="en"/>
              <a:t>(Programmable Read-Only Memory)</a:t>
            </a:r>
            <a:endParaRPr/>
          </a:p>
        </p:txBody>
      </p:sp>
      <p:sp>
        <p:nvSpPr>
          <p:cNvPr id="149" name="Google Shape;149;p24"/>
          <p:cNvSpPr txBox="1"/>
          <p:nvPr>
            <p:ph idx="1" type="body"/>
          </p:nvPr>
        </p:nvSpPr>
        <p:spPr>
          <a:xfrm>
            <a:off x="311700" y="1152475"/>
            <a:ext cx="78057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202122"/>
                </a:solidFill>
                <a:highlight>
                  <a:srgbClr val="FFFFFF"/>
                </a:highlight>
              </a:rPr>
              <a:t>Blank PROM chips are programmed by plugging them into a device called a PROM programmer.</a:t>
            </a:r>
            <a:endParaRPr>
              <a:solidFill>
                <a:srgbClr val="202122"/>
              </a:solidFill>
              <a:highlight>
                <a:srgbClr val="FFFFFF"/>
              </a:highlight>
            </a:endParaRPr>
          </a:p>
          <a:p>
            <a:pPr indent="0" lvl="0" marL="0" rtl="0" algn="l">
              <a:lnSpc>
                <a:spcPct val="115000"/>
              </a:lnSpc>
              <a:spcBef>
                <a:spcPts val="0"/>
              </a:spcBef>
              <a:spcAft>
                <a:spcPts val="0"/>
              </a:spcAft>
              <a:buNone/>
            </a:pPr>
            <a:r>
              <a:t/>
            </a:r>
            <a:endParaRPr>
              <a:solidFill>
                <a:srgbClr val="202122"/>
              </a:solidFill>
              <a:highlight>
                <a:srgbClr val="FFFFFF"/>
              </a:highlight>
            </a:endParaRPr>
          </a:p>
          <a:p>
            <a:pPr indent="0" lvl="0" marL="0" rtl="0" algn="l">
              <a:lnSpc>
                <a:spcPct val="115000"/>
              </a:lnSpc>
              <a:spcBef>
                <a:spcPts val="0"/>
              </a:spcBef>
              <a:spcAft>
                <a:spcPts val="0"/>
              </a:spcAft>
              <a:buNone/>
            </a:pPr>
            <a:r>
              <a:rPr lang="en">
                <a:solidFill>
                  <a:srgbClr val="202122"/>
                </a:solidFill>
                <a:highlight>
                  <a:srgbClr val="FFFFFF"/>
                </a:highlight>
              </a:rPr>
              <a:t>A typical PROM comes with all bits reading as "1". Burning a fuse bit during programming causes the bit to be read as "0" by "blowing" the fuses, which is an irreversible process.</a:t>
            </a:r>
            <a:endParaRPr>
              <a:solidFill>
                <a:srgbClr val="202122"/>
              </a:solidFill>
              <a:highlight>
                <a:srgbClr val="FFFFFF"/>
              </a:highlight>
            </a:endParaRPr>
          </a:p>
          <a:p>
            <a:pPr indent="0" lvl="0" marL="0" rtl="0" algn="l">
              <a:lnSpc>
                <a:spcPct val="115000"/>
              </a:lnSpc>
              <a:spcBef>
                <a:spcPts val="0"/>
              </a:spcBef>
              <a:spcAft>
                <a:spcPts val="0"/>
              </a:spcAft>
              <a:buNone/>
            </a:pPr>
            <a:r>
              <a:t/>
            </a:r>
            <a:endParaRPr>
              <a:solidFill>
                <a:srgbClr val="202122"/>
              </a:solidFill>
              <a:highlight>
                <a:srgbClr val="FFFFFF"/>
              </a:highlight>
            </a:endParaRPr>
          </a:p>
          <a:p>
            <a:pPr indent="0" lvl="0" marL="0" rtl="0" algn="l">
              <a:lnSpc>
                <a:spcPct val="115000"/>
              </a:lnSpc>
              <a:spcBef>
                <a:spcPts val="0"/>
              </a:spcBef>
              <a:spcAft>
                <a:spcPts val="0"/>
              </a:spcAft>
              <a:buNone/>
            </a:pPr>
            <a:r>
              <a:rPr lang="en">
                <a:solidFill>
                  <a:srgbClr val="202122"/>
                </a:solidFill>
                <a:highlight>
                  <a:srgbClr val="FFFFFF"/>
                </a:highlight>
              </a:rPr>
              <a:t>These types of memories are frequently used in microcontrollers, video game consoles, mobile phones, radio-frequency identification (RFID) tags, implantable medical devices, high-definition multimedia interfaces (HDMI) </a:t>
            </a:r>
            <a:endParaRPr>
              <a:solidFill>
                <a:srgbClr val="202122"/>
              </a:solidFill>
              <a:highlight>
                <a:srgbClr val="FFFFFF"/>
              </a:highlight>
            </a:endParaRPr>
          </a:p>
          <a:p>
            <a:pPr indent="0" lvl="0" marL="0" rtl="0" algn="l">
              <a:lnSpc>
                <a:spcPct val="115000"/>
              </a:lnSpc>
              <a:spcBef>
                <a:spcPts val="0"/>
              </a:spcBef>
              <a:spcAft>
                <a:spcPts val="0"/>
              </a:spcAft>
              <a:buNone/>
            </a:pPr>
            <a:r>
              <a:t/>
            </a:r>
            <a:endParaRPr>
              <a:solidFill>
                <a:srgbClr val="202122"/>
              </a:solidFill>
              <a:highlight>
                <a:srgbClr val="FFFFFF"/>
              </a:highlight>
            </a:endParaRPr>
          </a:p>
        </p:txBody>
      </p:sp>
      <p:sp>
        <p:nvSpPr>
          <p:cNvPr id="150" name="Google Shape;150;p24"/>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151" name="Google Shape;151;p24"/>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FF"/>
                </a:solidFill>
              </a:rPr>
              <a:t>EPROM</a:t>
            </a:r>
            <a:r>
              <a:rPr lang="en"/>
              <a:t> (Erasable Programmable Read-Only Memory)</a:t>
            </a:r>
            <a:endParaRPr/>
          </a:p>
        </p:txBody>
      </p:sp>
      <p:sp>
        <p:nvSpPr>
          <p:cNvPr id="157" name="Google Shape;157;p25"/>
          <p:cNvSpPr txBox="1"/>
          <p:nvPr>
            <p:ph idx="1" type="body"/>
          </p:nvPr>
        </p:nvSpPr>
        <p:spPr>
          <a:xfrm>
            <a:off x="311700" y="1152475"/>
            <a:ext cx="86784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rgbClr val="444444"/>
                </a:solidFill>
                <a:highlight>
                  <a:srgbClr val="FFFFFF"/>
                </a:highlight>
              </a:rPr>
              <a:t>Can be erased by UV light</a:t>
            </a:r>
            <a:endParaRPr sz="2000">
              <a:solidFill>
                <a:srgbClr val="444444"/>
              </a:solidFill>
              <a:highlight>
                <a:srgbClr val="FFFFFF"/>
              </a:highlight>
            </a:endParaRPr>
          </a:p>
          <a:p>
            <a:pPr indent="0" lvl="0" marL="0" rtl="0" algn="l">
              <a:lnSpc>
                <a:spcPct val="115000"/>
              </a:lnSpc>
              <a:spcBef>
                <a:spcPts val="0"/>
              </a:spcBef>
              <a:spcAft>
                <a:spcPts val="0"/>
              </a:spcAft>
              <a:buNone/>
            </a:pPr>
            <a:r>
              <a:rPr lang="en" sz="2000">
                <a:solidFill>
                  <a:srgbClr val="444444"/>
                </a:solidFill>
                <a:highlight>
                  <a:srgbClr val="FFFFFF"/>
                </a:highlight>
              </a:rPr>
              <a:t>Recognizable by the transparent window in the top</a:t>
            </a:r>
            <a:endParaRPr sz="2000">
              <a:solidFill>
                <a:srgbClr val="444444"/>
              </a:solidFill>
              <a:highlight>
                <a:srgbClr val="FFFFFF"/>
              </a:highlight>
            </a:endParaRPr>
          </a:p>
        </p:txBody>
      </p:sp>
      <p:sp>
        <p:nvSpPr>
          <p:cNvPr id="158" name="Google Shape;158;p25"/>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159" name="Google Shape;159;p25"/>
          <p:cNvPicPr preferRelativeResize="0"/>
          <p:nvPr/>
        </p:nvPicPr>
        <p:blipFill>
          <a:blip r:embed="rId3">
            <a:alphaModFix/>
          </a:blip>
          <a:stretch>
            <a:fillRect/>
          </a:stretch>
        </p:blipFill>
        <p:spPr>
          <a:xfrm>
            <a:off x="8190150" y="4283600"/>
            <a:ext cx="684600" cy="684600"/>
          </a:xfrm>
          <a:prstGeom prst="rect">
            <a:avLst/>
          </a:prstGeom>
          <a:noFill/>
          <a:ln>
            <a:noFill/>
          </a:ln>
        </p:spPr>
      </p:pic>
      <p:pic>
        <p:nvPicPr>
          <p:cNvPr id="160" name="Google Shape;160;p25"/>
          <p:cNvPicPr preferRelativeResize="0"/>
          <p:nvPr/>
        </p:nvPicPr>
        <p:blipFill>
          <a:blip r:embed="rId4">
            <a:alphaModFix/>
          </a:blip>
          <a:stretch>
            <a:fillRect/>
          </a:stretch>
        </p:blipFill>
        <p:spPr>
          <a:xfrm>
            <a:off x="617400" y="2815075"/>
            <a:ext cx="2381250" cy="1238250"/>
          </a:xfrm>
          <a:prstGeom prst="rect">
            <a:avLst/>
          </a:prstGeom>
          <a:noFill/>
          <a:ln>
            <a:noFill/>
          </a:ln>
        </p:spPr>
      </p:pic>
      <p:pic>
        <p:nvPicPr>
          <p:cNvPr id="161" name="Google Shape;161;p25"/>
          <p:cNvPicPr preferRelativeResize="0"/>
          <p:nvPr/>
        </p:nvPicPr>
        <p:blipFill>
          <a:blip r:embed="rId5">
            <a:alphaModFix/>
          </a:blip>
          <a:stretch>
            <a:fillRect/>
          </a:stretch>
        </p:blipFill>
        <p:spPr>
          <a:xfrm>
            <a:off x="3612575" y="2434075"/>
            <a:ext cx="2286000" cy="20002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242125" y="465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FF"/>
                </a:solidFill>
              </a:rPr>
              <a:t>EPROM</a:t>
            </a:r>
            <a:r>
              <a:rPr lang="en"/>
              <a:t> (Erasable Programmable Read-Only Memory)</a:t>
            </a:r>
            <a:endParaRPr/>
          </a:p>
        </p:txBody>
      </p:sp>
      <p:sp>
        <p:nvSpPr>
          <p:cNvPr id="167" name="Google Shape;167;p26"/>
          <p:cNvSpPr txBox="1"/>
          <p:nvPr>
            <p:ph idx="1" type="body"/>
          </p:nvPr>
        </p:nvSpPr>
        <p:spPr>
          <a:xfrm>
            <a:off x="242125" y="1173275"/>
            <a:ext cx="86784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900">
                <a:solidFill>
                  <a:srgbClr val="333333"/>
                </a:solidFill>
                <a:highlight>
                  <a:srgbClr val="FFFFFF"/>
                </a:highlight>
              </a:rPr>
              <a:t>"Erasable" means that the data on it can be removed. With these chips, erasure is carried out by exposure to intensive ultraviolet light in the area of 254 nm wavelength.</a:t>
            </a:r>
            <a:endParaRPr sz="1900">
              <a:solidFill>
                <a:srgbClr val="333333"/>
              </a:solidFill>
              <a:highlight>
                <a:srgbClr val="FFFFFF"/>
              </a:highlight>
            </a:endParaRPr>
          </a:p>
          <a:p>
            <a:pPr indent="0" lvl="0" marL="0" rtl="0" algn="l">
              <a:lnSpc>
                <a:spcPct val="115000"/>
              </a:lnSpc>
              <a:spcBef>
                <a:spcPts val="0"/>
              </a:spcBef>
              <a:spcAft>
                <a:spcPts val="0"/>
              </a:spcAft>
              <a:buNone/>
            </a:pPr>
            <a:r>
              <a:t/>
            </a:r>
            <a:endParaRPr sz="1900">
              <a:solidFill>
                <a:srgbClr val="333333"/>
              </a:solidFill>
              <a:highlight>
                <a:srgbClr val="FFFFFF"/>
              </a:highlight>
            </a:endParaRPr>
          </a:p>
          <a:p>
            <a:pPr indent="0" lvl="0" marL="0" rtl="0" algn="l">
              <a:lnSpc>
                <a:spcPct val="115000"/>
              </a:lnSpc>
              <a:spcBef>
                <a:spcPts val="0"/>
              </a:spcBef>
              <a:spcAft>
                <a:spcPts val="0"/>
              </a:spcAft>
              <a:buNone/>
            </a:pPr>
            <a:r>
              <a:rPr lang="en" sz="1900">
                <a:solidFill>
                  <a:srgbClr val="333333"/>
                </a:solidFill>
                <a:highlight>
                  <a:srgbClr val="FFFFFF"/>
                </a:highlight>
              </a:rPr>
              <a:t>This memory type can be burned (programmed) by a programming device and then retains its data until an erasing device erases it. During the programming process, any desired number of bits from </a:t>
            </a:r>
            <a:r>
              <a:rPr lang="en" sz="1900">
                <a:solidFill>
                  <a:srgbClr val="333333"/>
                </a:solidFill>
                <a:highlight>
                  <a:schemeClr val="accent6"/>
                </a:highlight>
              </a:rPr>
              <a:t>one to zero</a:t>
            </a:r>
            <a:r>
              <a:rPr lang="en" sz="1900">
                <a:solidFill>
                  <a:srgbClr val="333333"/>
                </a:solidFill>
                <a:highlight>
                  <a:srgbClr val="FFFFFF"/>
                </a:highlight>
              </a:rPr>
              <a:t> can be programmed. Eproms can also be programmed repeatedly without being erased as long as the bits are only changed from one to zero or remain on zero. </a:t>
            </a:r>
            <a:r>
              <a:rPr lang="en" sz="1900">
                <a:solidFill>
                  <a:srgbClr val="333333"/>
                </a:solidFill>
                <a:highlight>
                  <a:schemeClr val="accent6"/>
                </a:highlight>
              </a:rPr>
              <a:t>To change a bit from zero to one, erasuing is necessary</a:t>
            </a:r>
            <a:endParaRPr sz="1900">
              <a:solidFill>
                <a:srgbClr val="333333"/>
              </a:solidFill>
              <a:highlight>
                <a:schemeClr val="accent6"/>
              </a:highlight>
            </a:endParaRPr>
          </a:p>
        </p:txBody>
      </p:sp>
      <p:sp>
        <p:nvSpPr>
          <p:cNvPr id="168" name="Google Shape;168;p26"/>
          <p:cNvSpPr txBox="1"/>
          <p:nvPr/>
        </p:nvSpPr>
        <p:spPr>
          <a:xfrm>
            <a:off x="161100" y="47244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169" name="Google Shape;169;p26"/>
          <p:cNvPicPr preferRelativeResize="0"/>
          <p:nvPr/>
        </p:nvPicPr>
        <p:blipFill>
          <a:blip r:embed="rId3">
            <a:alphaModFix/>
          </a:blip>
          <a:stretch>
            <a:fillRect/>
          </a:stretch>
        </p:blipFill>
        <p:spPr>
          <a:xfrm>
            <a:off x="8120575" y="4304400"/>
            <a:ext cx="684600" cy="684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EEPROM (Electrically Erasable Programmable Read-Only Memory)</a:t>
            </a:r>
            <a:endParaRPr/>
          </a:p>
        </p:txBody>
      </p:sp>
      <p:sp>
        <p:nvSpPr>
          <p:cNvPr id="175" name="Google Shape;175;p27"/>
          <p:cNvSpPr txBox="1"/>
          <p:nvPr>
            <p:ph idx="1" type="body"/>
          </p:nvPr>
        </p:nvSpPr>
        <p:spPr>
          <a:xfrm>
            <a:off x="311700" y="1544100"/>
            <a:ext cx="8678400" cy="3024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434343"/>
                </a:solidFill>
                <a:highlight>
                  <a:srgbClr val="FFFFFF"/>
                </a:highlight>
              </a:rPr>
              <a:t>EEPROM is user-modifiable read-only memory (ROM) that can be erased and reprogrammed (written to) repeatedly through the application of higher than normal electrical voltage</a:t>
            </a:r>
            <a:endParaRPr>
              <a:solidFill>
                <a:srgbClr val="434343"/>
              </a:solidFill>
              <a:highlight>
                <a:srgbClr val="FFFFFF"/>
              </a:highlight>
            </a:endParaRPr>
          </a:p>
          <a:p>
            <a:pPr indent="0" lvl="0" marL="0" rtl="0" algn="l">
              <a:lnSpc>
                <a:spcPct val="115000"/>
              </a:lnSpc>
              <a:spcBef>
                <a:spcPts val="0"/>
              </a:spcBef>
              <a:spcAft>
                <a:spcPts val="0"/>
              </a:spcAft>
              <a:buNone/>
            </a:pPr>
            <a:r>
              <a:t/>
            </a:r>
            <a:endParaRPr>
              <a:solidFill>
                <a:srgbClr val="434343"/>
              </a:solidFill>
              <a:highlight>
                <a:srgbClr val="FFFFFF"/>
              </a:highlight>
            </a:endParaRPr>
          </a:p>
          <a:p>
            <a:pPr indent="0" lvl="0" marL="0" rtl="0" algn="l">
              <a:lnSpc>
                <a:spcPct val="115000"/>
              </a:lnSpc>
              <a:spcBef>
                <a:spcPts val="0"/>
              </a:spcBef>
              <a:spcAft>
                <a:spcPts val="0"/>
              </a:spcAft>
              <a:buNone/>
            </a:pPr>
            <a:r>
              <a:rPr lang="en">
                <a:solidFill>
                  <a:srgbClr val="434343"/>
                </a:solidFill>
                <a:highlight>
                  <a:srgbClr val="FFFFFF"/>
                </a:highlight>
              </a:rPr>
              <a:t>Unlike EPROM chips, EEPROMs do not need to be removed from the computer to be modified.</a:t>
            </a:r>
            <a:br>
              <a:rPr lang="en">
                <a:solidFill>
                  <a:srgbClr val="434343"/>
                </a:solidFill>
                <a:highlight>
                  <a:srgbClr val="FFFFFF"/>
                </a:highlight>
              </a:rPr>
            </a:br>
            <a:br>
              <a:rPr lang="en">
                <a:solidFill>
                  <a:srgbClr val="434343"/>
                </a:solidFill>
                <a:highlight>
                  <a:srgbClr val="FFFFFF"/>
                </a:highlight>
              </a:rPr>
            </a:br>
            <a:endParaRPr>
              <a:solidFill>
                <a:srgbClr val="434343"/>
              </a:solidFill>
              <a:highlight>
                <a:srgbClr val="FFFFFF"/>
              </a:highlight>
            </a:endParaRPr>
          </a:p>
        </p:txBody>
      </p:sp>
      <p:sp>
        <p:nvSpPr>
          <p:cNvPr id="176" name="Google Shape;176;p27"/>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177" name="Google Shape;177;p27"/>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EEPROM (Electrically Erasable Programmable Read-Only Memory)</a:t>
            </a:r>
            <a:endParaRPr/>
          </a:p>
        </p:txBody>
      </p:sp>
      <p:sp>
        <p:nvSpPr>
          <p:cNvPr id="183" name="Google Shape;183;p28"/>
          <p:cNvSpPr txBox="1"/>
          <p:nvPr>
            <p:ph idx="1" type="body"/>
          </p:nvPr>
        </p:nvSpPr>
        <p:spPr>
          <a:xfrm>
            <a:off x="311700" y="1544100"/>
            <a:ext cx="8678400" cy="3024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444444"/>
                </a:solidFill>
                <a:highlight>
                  <a:srgbClr val="FFFFFF"/>
                </a:highlight>
              </a:rPr>
              <a:t>EEPROM chip has to be erased and reprogrammed </a:t>
            </a:r>
            <a:r>
              <a:rPr lang="en">
                <a:solidFill>
                  <a:srgbClr val="444444"/>
                </a:solidFill>
                <a:highlight>
                  <a:schemeClr val="accent6"/>
                </a:highlight>
              </a:rPr>
              <a:t>in its entirety, not selectively. </a:t>
            </a:r>
            <a:r>
              <a:rPr lang="en">
                <a:solidFill>
                  <a:srgbClr val="444444"/>
                </a:solidFill>
                <a:highlight>
                  <a:srgbClr val="FFFFFF"/>
                </a:highlight>
              </a:rPr>
              <a:t>It also has a limited life - that is, the number of times it can be reprogrammed is limited to </a:t>
            </a:r>
            <a:r>
              <a:rPr lang="en">
                <a:solidFill>
                  <a:srgbClr val="444444"/>
                </a:solidFill>
                <a:highlight>
                  <a:schemeClr val="accent6"/>
                </a:highlight>
              </a:rPr>
              <a:t>tens or hundreds of thousands of times</a:t>
            </a:r>
            <a:r>
              <a:rPr lang="en">
                <a:solidFill>
                  <a:srgbClr val="444444"/>
                </a:solidFill>
                <a:highlight>
                  <a:srgbClr val="FFFFFF"/>
                </a:highlight>
              </a:rPr>
              <a:t>. In an EEPROM that is frequently reprogrammed while the computer is in use, the life of the EEPROM can be an important design consideration.</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What is flash memory (</a:t>
            </a:r>
            <a:r>
              <a:rPr lang="en">
                <a:solidFill>
                  <a:srgbClr val="202122"/>
                </a:solidFill>
                <a:highlight>
                  <a:srgbClr val="FFFFFF"/>
                </a:highlight>
              </a:rPr>
              <a:t> type of EEPROM) ?</a:t>
            </a:r>
            <a:endParaRPr>
              <a:solidFill>
                <a:srgbClr val="444444"/>
              </a:solidFill>
              <a:highlight>
                <a:srgbClr val="FFFFFF"/>
              </a:highlight>
            </a:endParaRPr>
          </a:p>
        </p:txBody>
      </p:sp>
      <p:sp>
        <p:nvSpPr>
          <p:cNvPr id="184" name="Google Shape;184;p28"/>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185" name="Google Shape;185;p28"/>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RAM</a:t>
            </a:r>
            <a:endParaRPr/>
          </a:p>
        </p:txBody>
      </p:sp>
      <p:sp>
        <p:nvSpPr>
          <p:cNvPr id="191" name="Google Shape;191;p29"/>
          <p:cNvSpPr txBox="1"/>
          <p:nvPr>
            <p:ph idx="1" type="body"/>
          </p:nvPr>
        </p:nvSpPr>
        <p:spPr>
          <a:xfrm>
            <a:off x="311700" y="1181963"/>
            <a:ext cx="8678400" cy="3387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444444"/>
                </a:solidFill>
                <a:highlight>
                  <a:srgbClr val="FFFFFF"/>
                </a:highlight>
              </a:rPr>
              <a:t>It stands for Random Access Memory. Here data can be stored </a:t>
            </a:r>
            <a:r>
              <a:rPr lang="en">
                <a:solidFill>
                  <a:srgbClr val="444444"/>
                </a:solidFill>
                <a:highlight>
                  <a:schemeClr val="accent6"/>
                </a:highlight>
              </a:rPr>
              <a:t>temporarily</a:t>
            </a:r>
            <a:r>
              <a:rPr lang="en">
                <a:solidFill>
                  <a:srgbClr val="444444"/>
                </a:solidFill>
                <a:highlight>
                  <a:srgbClr val="FFFFFF"/>
                </a:highlight>
              </a:rPr>
              <a:t>, so this type of memory is called as temporary memory or volatile memory because when </a:t>
            </a:r>
            <a:r>
              <a:rPr lang="en">
                <a:solidFill>
                  <a:srgbClr val="444444"/>
                </a:solidFill>
                <a:highlight>
                  <a:schemeClr val="accent6"/>
                </a:highlight>
              </a:rPr>
              <a:t>power fails the data from RAM will be erased</a:t>
            </a:r>
            <a:r>
              <a:rPr lang="en">
                <a:solidFill>
                  <a:srgbClr val="444444"/>
                </a:solidFill>
                <a:highlight>
                  <a:srgbClr val="FFFFFF"/>
                </a:highlight>
              </a:rPr>
              <a:t>. The information stored in the RAM is basically loaded from the computer’s disk and includes information related to the operating system and applications that are </a:t>
            </a:r>
            <a:r>
              <a:rPr lang="en">
                <a:solidFill>
                  <a:srgbClr val="444444"/>
                </a:solidFill>
                <a:highlight>
                  <a:schemeClr val="accent6"/>
                </a:highlight>
              </a:rPr>
              <a:t>currently executed by the processor.</a:t>
            </a:r>
            <a:endParaRPr>
              <a:solidFill>
                <a:srgbClr val="444444"/>
              </a:solidFill>
              <a:highlight>
                <a:schemeClr val="accent6"/>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RAM is considered random access because any memory cell can be directly accessed </a:t>
            </a:r>
            <a:r>
              <a:rPr lang="en">
                <a:solidFill>
                  <a:srgbClr val="444444"/>
                </a:solidFill>
                <a:highlight>
                  <a:schemeClr val="accent6"/>
                </a:highlight>
              </a:rPr>
              <a:t>if its address is known. </a:t>
            </a:r>
            <a:endParaRPr>
              <a:solidFill>
                <a:srgbClr val="444444"/>
              </a:solidFill>
              <a:highlight>
                <a:schemeClr val="accent6"/>
              </a:highlight>
            </a:endParaRPr>
          </a:p>
        </p:txBody>
      </p:sp>
      <p:sp>
        <p:nvSpPr>
          <p:cNvPr id="192" name="Google Shape;192;p29"/>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193" name="Google Shape;193;p29"/>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SRAM</a:t>
            </a:r>
            <a:endParaRPr/>
          </a:p>
        </p:txBody>
      </p:sp>
      <p:sp>
        <p:nvSpPr>
          <p:cNvPr id="199" name="Google Shape;199;p30"/>
          <p:cNvSpPr txBox="1"/>
          <p:nvPr>
            <p:ph idx="1" type="body"/>
          </p:nvPr>
        </p:nvSpPr>
        <p:spPr>
          <a:xfrm>
            <a:off x="311700" y="1059300"/>
            <a:ext cx="8678400" cy="3024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444444"/>
                </a:solidFill>
                <a:highlight>
                  <a:srgbClr val="FFFFFF"/>
                </a:highlight>
              </a:rPr>
              <a:t>SRAM (static RAM) is random access memory (RAM) that </a:t>
            </a:r>
            <a:r>
              <a:rPr lang="en">
                <a:solidFill>
                  <a:srgbClr val="444444"/>
                </a:solidFill>
                <a:highlight>
                  <a:schemeClr val="accent6"/>
                </a:highlight>
              </a:rPr>
              <a:t>retains data bits</a:t>
            </a:r>
            <a:r>
              <a:rPr lang="en">
                <a:solidFill>
                  <a:srgbClr val="444444"/>
                </a:solidFill>
                <a:highlight>
                  <a:srgbClr val="FFFFFF"/>
                </a:highlight>
              </a:rPr>
              <a:t> in its memory as long as power is being supplied.</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 Unlike dynamic RAM (DRAM), which stores bits in cells consisting of a capacitor and a transistor, SRAM </a:t>
            </a:r>
            <a:r>
              <a:rPr lang="en">
                <a:solidFill>
                  <a:srgbClr val="444444"/>
                </a:solidFill>
                <a:highlight>
                  <a:schemeClr val="accent6"/>
                </a:highlight>
              </a:rPr>
              <a:t>does not have to be periodically refreshed.</a:t>
            </a:r>
            <a:endParaRPr>
              <a:solidFill>
                <a:srgbClr val="444444"/>
              </a:solidFill>
              <a:highlight>
                <a:schemeClr val="accent6"/>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 Static RAM provides</a:t>
            </a:r>
            <a:r>
              <a:rPr lang="en">
                <a:solidFill>
                  <a:srgbClr val="444444"/>
                </a:solidFill>
                <a:highlight>
                  <a:schemeClr val="accent6"/>
                </a:highlight>
              </a:rPr>
              <a:t> faster access to data and is more expensive</a:t>
            </a:r>
            <a:r>
              <a:rPr lang="en">
                <a:solidFill>
                  <a:srgbClr val="444444"/>
                </a:solidFill>
                <a:highlight>
                  <a:srgbClr val="FFFFFF"/>
                </a:highlight>
              </a:rPr>
              <a:t> than DRAM.</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 SRAM is used for a computer's cache memory and as part of the random access memory digital-to-analog converter on a video card.</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The term is </a:t>
            </a:r>
            <a:r>
              <a:rPr lang="en">
                <a:solidFill>
                  <a:srgbClr val="444444"/>
                </a:solidFill>
                <a:highlight>
                  <a:srgbClr val="FFFFFF"/>
                </a:highlight>
              </a:rPr>
              <a:t>pronounced</a:t>
            </a:r>
            <a:r>
              <a:rPr lang="en">
                <a:solidFill>
                  <a:srgbClr val="444444"/>
                </a:solidFill>
                <a:highlight>
                  <a:srgbClr val="FFFFFF"/>
                </a:highlight>
              </a:rPr>
              <a:t> "S-RAM", not "sram." </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Homework - https://www.youtube.com/watch?v=kU2SsUUsftA</a:t>
            </a:r>
            <a:endParaRPr>
              <a:solidFill>
                <a:srgbClr val="444444"/>
              </a:solidFill>
              <a:highlight>
                <a:srgbClr val="FFFFFF"/>
              </a:highlight>
            </a:endParaRPr>
          </a:p>
        </p:txBody>
      </p:sp>
      <p:sp>
        <p:nvSpPr>
          <p:cNvPr id="200" name="Google Shape;200;p30"/>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201" name="Google Shape;201;p30"/>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SRAM</a:t>
            </a:r>
            <a:endParaRPr/>
          </a:p>
        </p:txBody>
      </p:sp>
      <p:sp>
        <p:nvSpPr>
          <p:cNvPr id="207" name="Google Shape;207;p31"/>
          <p:cNvSpPr txBox="1"/>
          <p:nvPr>
            <p:ph idx="1" type="body"/>
          </p:nvPr>
        </p:nvSpPr>
        <p:spPr>
          <a:xfrm>
            <a:off x="311700" y="1059300"/>
            <a:ext cx="8678400" cy="3024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444444"/>
                </a:solidFill>
                <a:highlight>
                  <a:srgbClr val="FFFFFF"/>
                </a:highlight>
              </a:rPr>
              <a:t>While SRAM can operate at higher speeds than DRAM, it is </a:t>
            </a:r>
            <a:r>
              <a:rPr lang="en">
                <a:solidFill>
                  <a:srgbClr val="444444"/>
                </a:solidFill>
                <a:highlight>
                  <a:schemeClr val="accent4"/>
                </a:highlight>
              </a:rPr>
              <a:t>more expensive</a:t>
            </a:r>
            <a:r>
              <a:rPr lang="en">
                <a:solidFill>
                  <a:srgbClr val="444444"/>
                </a:solidFill>
                <a:highlight>
                  <a:srgbClr val="FFFFFF"/>
                </a:highlight>
              </a:rPr>
              <a:t> to manufacture because of its complex internal structure, so most of the RAM on the motherboard is DRAM.</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 As well, due to its condensed size it is not ideal for main memory. SRAM is best suited for secondary operations like the </a:t>
            </a:r>
            <a:r>
              <a:rPr lang="en">
                <a:solidFill>
                  <a:srgbClr val="444444"/>
                </a:solidFill>
                <a:highlight>
                  <a:schemeClr val="accent6"/>
                </a:highlight>
              </a:rPr>
              <a:t>CPU’s fast cache memory and storing registers.</a:t>
            </a:r>
            <a:endParaRPr>
              <a:solidFill>
                <a:srgbClr val="444444"/>
              </a:solidFill>
              <a:highlight>
                <a:schemeClr val="accent6"/>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SRAM’s access time is a lot faster than DRAM’s. SRAM is about 10 nanoseconds; DRAM’s access time is about 60 nanoseconds.</a:t>
            </a:r>
            <a:endParaRPr>
              <a:solidFill>
                <a:srgbClr val="444444"/>
              </a:solidFill>
              <a:highlight>
                <a:srgbClr val="FFFFFF"/>
              </a:highlight>
            </a:endParaRPr>
          </a:p>
        </p:txBody>
      </p:sp>
      <p:sp>
        <p:nvSpPr>
          <p:cNvPr id="208" name="Google Shape;208;p31"/>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209" name="Google Shape;209;p31"/>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DRAM</a:t>
            </a:r>
            <a:endParaRPr/>
          </a:p>
        </p:txBody>
      </p:sp>
      <p:sp>
        <p:nvSpPr>
          <p:cNvPr id="215" name="Google Shape;215;p32"/>
          <p:cNvSpPr txBox="1"/>
          <p:nvPr>
            <p:ph idx="1" type="body"/>
          </p:nvPr>
        </p:nvSpPr>
        <p:spPr>
          <a:xfrm>
            <a:off x="311700" y="1059300"/>
            <a:ext cx="8678400" cy="3024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444444"/>
                </a:solidFill>
                <a:highlight>
                  <a:srgbClr val="FFFFFF"/>
                </a:highlight>
              </a:rPr>
              <a:t>DRAM is widely used as a computer’s main memory. Each DRAM memory cell is made up of a transistor and a capacitor within an integrated circuit, and a </a:t>
            </a:r>
            <a:r>
              <a:rPr lang="en">
                <a:solidFill>
                  <a:srgbClr val="444444"/>
                </a:solidFill>
                <a:highlight>
                  <a:schemeClr val="accent6"/>
                </a:highlight>
              </a:rPr>
              <a:t>data bit is stored in the capacitor.</a:t>
            </a:r>
            <a:r>
              <a:rPr lang="en">
                <a:solidFill>
                  <a:srgbClr val="444444"/>
                </a:solidFill>
                <a:highlight>
                  <a:srgbClr val="FFFFFF"/>
                </a:highlight>
              </a:rPr>
              <a:t> </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Since transistors always leak a small amount, the capacitors will slowly discharge, causing information stored in it to drain; hence, </a:t>
            </a:r>
            <a:r>
              <a:rPr lang="en">
                <a:solidFill>
                  <a:srgbClr val="444444"/>
                </a:solidFill>
                <a:highlight>
                  <a:schemeClr val="accent6"/>
                </a:highlight>
              </a:rPr>
              <a:t>DRAM has to be refreshed</a:t>
            </a:r>
            <a:r>
              <a:rPr lang="en">
                <a:solidFill>
                  <a:srgbClr val="444444"/>
                </a:solidFill>
                <a:highlight>
                  <a:srgbClr val="FFFFFF"/>
                </a:highlight>
              </a:rPr>
              <a:t> (given a new electronic charge) every few milliseconds to retain data. </a:t>
            </a:r>
            <a:endParaRPr>
              <a:solidFill>
                <a:srgbClr val="444444"/>
              </a:solidFill>
              <a:highlight>
                <a:srgbClr val="FFFFFF"/>
              </a:highlight>
            </a:endParaRPr>
          </a:p>
        </p:txBody>
      </p:sp>
      <p:sp>
        <p:nvSpPr>
          <p:cNvPr id="216" name="Google Shape;216;p32"/>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217" name="Google Shape;217;p32"/>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DRAM</a:t>
            </a:r>
            <a:endParaRPr/>
          </a:p>
        </p:txBody>
      </p:sp>
      <p:sp>
        <p:nvSpPr>
          <p:cNvPr id="223" name="Google Shape;223;p33"/>
          <p:cNvSpPr txBox="1"/>
          <p:nvPr>
            <p:ph idx="1" type="body"/>
          </p:nvPr>
        </p:nvSpPr>
        <p:spPr>
          <a:xfrm>
            <a:off x="311700" y="1059300"/>
            <a:ext cx="8678400" cy="302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44444"/>
                </a:solidFill>
                <a:highlight>
                  <a:srgbClr val="FFFFFF"/>
                </a:highlight>
              </a:rPr>
              <a:t>The main advantages of DRAM are its </a:t>
            </a:r>
            <a:r>
              <a:rPr lang="en">
                <a:solidFill>
                  <a:srgbClr val="444444"/>
                </a:solidFill>
                <a:highlight>
                  <a:schemeClr val="accent4"/>
                </a:highlight>
              </a:rPr>
              <a:t>simple design and low cost </a:t>
            </a:r>
            <a:r>
              <a:rPr lang="en">
                <a:solidFill>
                  <a:srgbClr val="444444"/>
                </a:solidFill>
                <a:highlight>
                  <a:srgbClr val="FFFFFF"/>
                </a:highlight>
              </a:rPr>
              <a:t>in comparison to alternative types of memory. The main disadvantages of DRAM are its high volatility and high power consumption relative to other options.</a:t>
            </a:r>
            <a:br>
              <a:rPr lang="en">
                <a:solidFill>
                  <a:srgbClr val="444444"/>
                </a:solidFill>
                <a:highlight>
                  <a:srgbClr val="FFFFFF"/>
                </a:highlight>
              </a:rPr>
            </a:br>
            <a:br>
              <a:rPr lang="en">
                <a:solidFill>
                  <a:srgbClr val="444444"/>
                </a:solidFill>
                <a:highlight>
                  <a:srgbClr val="FFFFFF"/>
                </a:highlight>
              </a:rPr>
            </a:br>
            <a:br>
              <a:rPr lang="en">
                <a:solidFill>
                  <a:srgbClr val="444444"/>
                </a:solidFill>
                <a:highlight>
                  <a:srgbClr val="FFFFFF"/>
                </a:highlight>
              </a:rPr>
            </a:br>
            <a:br>
              <a:rPr lang="en">
                <a:solidFill>
                  <a:srgbClr val="444444"/>
                </a:solidFill>
                <a:highlight>
                  <a:srgbClr val="FFFFFF"/>
                </a:highlight>
              </a:rPr>
            </a:br>
            <a:br>
              <a:rPr lang="en">
                <a:solidFill>
                  <a:srgbClr val="444444"/>
                </a:solidFill>
                <a:highlight>
                  <a:srgbClr val="FFFFFF"/>
                </a:highlight>
              </a:rPr>
            </a:br>
            <a:br>
              <a:rPr lang="en">
                <a:solidFill>
                  <a:srgbClr val="444444"/>
                </a:solidFill>
                <a:highlight>
                  <a:srgbClr val="FFFFFF"/>
                </a:highlight>
              </a:rPr>
            </a:br>
            <a:br>
              <a:rPr lang="en">
                <a:solidFill>
                  <a:srgbClr val="444444"/>
                </a:solidFill>
                <a:highlight>
                  <a:srgbClr val="FFFFFF"/>
                </a:highlight>
              </a:rPr>
            </a:br>
            <a:r>
              <a:rPr lang="en">
                <a:solidFill>
                  <a:srgbClr val="444444"/>
                </a:solidFill>
                <a:highlight>
                  <a:srgbClr val="FFFFFF"/>
                </a:highlight>
              </a:rPr>
              <a:t>Homework - https://www.youtube.com/watch?v=EWDirCg-Wu8</a:t>
            </a:r>
            <a:endParaRPr>
              <a:solidFill>
                <a:srgbClr val="444444"/>
              </a:solidFill>
              <a:highlight>
                <a:srgbClr val="FFFFFF"/>
              </a:highlight>
            </a:endParaRPr>
          </a:p>
        </p:txBody>
      </p:sp>
      <p:sp>
        <p:nvSpPr>
          <p:cNvPr id="224" name="Google Shape;224;p33"/>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225" name="Google Shape;225;p33"/>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DRAM - Advantages</a:t>
            </a:r>
            <a:endParaRPr/>
          </a:p>
        </p:txBody>
      </p:sp>
      <p:sp>
        <p:nvSpPr>
          <p:cNvPr id="231" name="Google Shape;231;p34"/>
          <p:cNvSpPr txBox="1"/>
          <p:nvPr>
            <p:ph idx="1" type="body"/>
          </p:nvPr>
        </p:nvSpPr>
        <p:spPr>
          <a:xfrm>
            <a:off x="311700" y="1059300"/>
            <a:ext cx="8678400" cy="3024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444444"/>
              </a:buClr>
              <a:buSzPts val="1800"/>
              <a:buAutoNum type="arabicPeriod"/>
            </a:pPr>
            <a:r>
              <a:rPr lang="en">
                <a:solidFill>
                  <a:srgbClr val="444444"/>
                </a:solidFill>
                <a:highlight>
                  <a:srgbClr val="FFFFFF"/>
                </a:highlight>
              </a:rPr>
              <a:t>When cost-efficient storage is required, then DRAM is used.</a:t>
            </a:r>
            <a:endParaRPr>
              <a:solidFill>
                <a:srgbClr val="444444"/>
              </a:solidFill>
              <a:highlight>
                <a:srgbClr val="FFFFFF"/>
              </a:highlight>
            </a:endParaRPr>
          </a:p>
          <a:p>
            <a:pPr indent="-342900" lvl="0" marL="457200" rtl="0" algn="l">
              <a:spcBef>
                <a:spcPts val="0"/>
              </a:spcBef>
              <a:spcAft>
                <a:spcPts val="0"/>
              </a:spcAft>
              <a:buClr>
                <a:srgbClr val="444444"/>
              </a:buClr>
              <a:buSzPts val="1800"/>
              <a:buAutoNum type="arabicPeriod"/>
            </a:pPr>
            <a:r>
              <a:rPr lang="en">
                <a:solidFill>
                  <a:srgbClr val="444444"/>
                </a:solidFill>
                <a:highlight>
                  <a:srgbClr val="FFFFFF"/>
                </a:highlight>
              </a:rPr>
              <a:t>DRAM used in personal computers.</a:t>
            </a:r>
            <a:endParaRPr>
              <a:solidFill>
                <a:srgbClr val="444444"/>
              </a:solidFill>
              <a:highlight>
                <a:srgbClr val="FFFFFF"/>
              </a:highlight>
            </a:endParaRPr>
          </a:p>
          <a:p>
            <a:pPr indent="-342900" lvl="0" marL="457200" rtl="0" algn="l">
              <a:spcBef>
                <a:spcPts val="0"/>
              </a:spcBef>
              <a:spcAft>
                <a:spcPts val="0"/>
              </a:spcAft>
              <a:buClr>
                <a:srgbClr val="444444"/>
              </a:buClr>
              <a:buSzPts val="1800"/>
              <a:buAutoNum type="arabicPeriod"/>
            </a:pPr>
            <a:r>
              <a:rPr lang="en">
                <a:solidFill>
                  <a:srgbClr val="444444"/>
                </a:solidFill>
                <a:highlight>
                  <a:srgbClr val="FFFFFF"/>
                </a:highlight>
              </a:rPr>
              <a:t>I</a:t>
            </a:r>
            <a:r>
              <a:rPr lang="en">
                <a:solidFill>
                  <a:srgbClr val="444444"/>
                </a:solidFill>
                <a:highlight>
                  <a:srgbClr val="FFFFFF"/>
                </a:highlight>
              </a:rPr>
              <a:t>t also used in networking.</a:t>
            </a:r>
            <a:endParaRPr>
              <a:solidFill>
                <a:srgbClr val="444444"/>
              </a:solidFill>
              <a:highlight>
                <a:srgbClr val="FFFFFF"/>
              </a:highlight>
            </a:endParaRPr>
          </a:p>
          <a:p>
            <a:pPr indent="-342900" lvl="0" marL="457200" rtl="0" algn="l">
              <a:spcBef>
                <a:spcPts val="0"/>
              </a:spcBef>
              <a:spcAft>
                <a:spcPts val="0"/>
              </a:spcAft>
              <a:buClr>
                <a:srgbClr val="444444"/>
              </a:buClr>
              <a:buSzPts val="1800"/>
              <a:buAutoNum type="arabicPeriod"/>
            </a:pPr>
            <a:r>
              <a:rPr lang="en">
                <a:solidFill>
                  <a:srgbClr val="444444"/>
                </a:solidFill>
                <a:highlight>
                  <a:srgbClr val="FFFFFF"/>
                </a:highlight>
              </a:rPr>
              <a:t>It used in battery operated synchronous and asynchronous applications.</a:t>
            </a:r>
            <a:endParaRPr>
              <a:solidFill>
                <a:srgbClr val="444444"/>
              </a:solidFill>
              <a:highlight>
                <a:srgbClr val="FFFFFF"/>
              </a:highlight>
            </a:endParaRPr>
          </a:p>
          <a:p>
            <a:pPr indent="-342900" lvl="0" marL="457200" rtl="0" algn="l">
              <a:spcBef>
                <a:spcPts val="0"/>
              </a:spcBef>
              <a:spcAft>
                <a:spcPts val="0"/>
              </a:spcAft>
              <a:buClr>
                <a:srgbClr val="444444"/>
              </a:buClr>
              <a:buSzPts val="1800"/>
              <a:buAutoNum type="arabicPeriod"/>
            </a:pPr>
            <a:r>
              <a:rPr lang="en">
                <a:solidFill>
                  <a:srgbClr val="444444"/>
                </a:solidFill>
                <a:highlight>
                  <a:srgbClr val="FFFFFF"/>
                </a:highlight>
              </a:rPr>
              <a:t>DRAM memories also used for the enhancement of graphics functions of a computer.</a:t>
            </a:r>
            <a:br>
              <a:rPr lang="en">
                <a:solidFill>
                  <a:srgbClr val="444444"/>
                </a:solidFill>
                <a:highlight>
                  <a:srgbClr val="FFFFFF"/>
                </a:highlight>
              </a:rPr>
            </a:br>
            <a:br>
              <a:rPr lang="en">
                <a:solidFill>
                  <a:srgbClr val="444444"/>
                </a:solidFill>
                <a:highlight>
                  <a:srgbClr val="FFFFFF"/>
                </a:highlight>
              </a:rPr>
            </a:br>
            <a:br>
              <a:rPr lang="en">
                <a:solidFill>
                  <a:srgbClr val="444444"/>
                </a:solidFill>
                <a:highlight>
                  <a:srgbClr val="FFFFFF"/>
                </a:highlight>
              </a:rPr>
            </a:br>
            <a:br>
              <a:rPr lang="en">
                <a:solidFill>
                  <a:srgbClr val="444444"/>
                </a:solidFill>
                <a:highlight>
                  <a:srgbClr val="FFFFFF"/>
                </a:highlight>
              </a:rPr>
            </a:br>
            <a:br>
              <a:rPr lang="en">
                <a:solidFill>
                  <a:srgbClr val="444444"/>
                </a:solidFill>
                <a:highlight>
                  <a:srgbClr val="FFFFFF"/>
                </a:highlight>
              </a:rPr>
            </a:br>
            <a:br>
              <a:rPr lang="en">
                <a:solidFill>
                  <a:srgbClr val="444444"/>
                </a:solidFill>
                <a:highlight>
                  <a:srgbClr val="FFFFFF"/>
                </a:highlight>
              </a:rPr>
            </a:br>
            <a:endParaRPr>
              <a:solidFill>
                <a:srgbClr val="444444"/>
              </a:solidFill>
              <a:highlight>
                <a:srgbClr val="FFFFFF"/>
              </a:highlight>
            </a:endParaRPr>
          </a:p>
        </p:txBody>
      </p:sp>
      <p:sp>
        <p:nvSpPr>
          <p:cNvPr id="232" name="Google Shape;232;p34"/>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233" name="Google Shape;233;p34"/>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VRAM</a:t>
            </a:r>
            <a:endParaRPr/>
          </a:p>
        </p:txBody>
      </p:sp>
      <p:sp>
        <p:nvSpPr>
          <p:cNvPr id="239" name="Google Shape;239;p35"/>
          <p:cNvSpPr txBox="1"/>
          <p:nvPr>
            <p:ph idx="1" type="body"/>
          </p:nvPr>
        </p:nvSpPr>
        <p:spPr>
          <a:xfrm>
            <a:off x="311700" y="1059300"/>
            <a:ext cx="6018600" cy="3024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444444"/>
                </a:solidFill>
                <a:highlight>
                  <a:srgbClr val="FFFFFF"/>
                </a:highlight>
              </a:rPr>
              <a:t>VRAM (video RAM) refers to any type of random access memory (RAM) specifically </a:t>
            </a:r>
            <a:r>
              <a:rPr lang="en">
                <a:solidFill>
                  <a:srgbClr val="444444"/>
                </a:solidFill>
                <a:highlight>
                  <a:srgbClr val="FFFF00"/>
                </a:highlight>
              </a:rPr>
              <a:t>used to store image data for a computer display.</a:t>
            </a:r>
            <a:r>
              <a:rPr lang="en">
                <a:solidFill>
                  <a:srgbClr val="444444"/>
                </a:solidFill>
                <a:highlight>
                  <a:srgbClr val="FFFFFF"/>
                </a:highlight>
              </a:rPr>
              <a:t> VRAM's purpose is to ensure the even and smooth execution of graphics display.</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It is most important in applications that display complex image textures or </a:t>
            </a:r>
            <a:r>
              <a:rPr lang="en">
                <a:solidFill>
                  <a:srgbClr val="444444"/>
                </a:solidFill>
                <a:highlight>
                  <a:schemeClr val="accent6"/>
                </a:highlight>
              </a:rPr>
              <a:t>render polygon-based three-dimensional (3D) structures</a:t>
            </a:r>
            <a:r>
              <a:rPr lang="en">
                <a:solidFill>
                  <a:srgbClr val="444444"/>
                </a:solidFill>
                <a:highlight>
                  <a:srgbClr val="FFFFFF"/>
                </a:highlight>
              </a:rPr>
              <a:t>. People commonly use VRAM for applications such as video games or 3D graphic design programs.</a:t>
            </a:r>
            <a:endParaRPr>
              <a:solidFill>
                <a:srgbClr val="444444"/>
              </a:solidFill>
              <a:highlight>
                <a:srgbClr val="FFFFFF"/>
              </a:highlight>
            </a:endParaRPr>
          </a:p>
        </p:txBody>
      </p:sp>
      <p:sp>
        <p:nvSpPr>
          <p:cNvPr id="240" name="Google Shape;240;p35"/>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241" name="Google Shape;241;p35"/>
          <p:cNvPicPr preferRelativeResize="0"/>
          <p:nvPr/>
        </p:nvPicPr>
        <p:blipFill>
          <a:blip r:embed="rId3">
            <a:alphaModFix/>
          </a:blip>
          <a:stretch>
            <a:fillRect/>
          </a:stretch>
        </p:blipFill>
        <p:spPr>
          <a:xfrm>
            <a:off x="8190150" y="4283600"/>
            <a:ext cx="684600" cy="684600"/>
          </a:xfrm>
          <a:prstGeom prst="rect">
            <a:avLst/>
          </a:prstGeom>
          <a:noFill/>
          <a:ln>
            <a:noFill/>
          </a:ln>
        </p:spPr>
      </p:pic>
      <p:pic>
        <p:nvPicPr>
          <p:cNvPr id="242" name="Google Shape;242;p35"/>
          <p:cNvPicPr preferRelativeResize="0"/>
          <p:nvPr/>
        </p:nvPicPr>
        <p:blipFill rotWithShape="1">
          <a:blip r:embed="rId4">
            <a:alphaModFix/>
          </a:blip>
          <a:srcRect b="0" l="32827" r="0" t="1244"/>
          <a:stretch/>
        </p:blipFill>
        <p:spPr>
          <a:xfrm>
            <a:off x="6459700" y="1963325"/>
            <a:ext cx="2372601" cy="1627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VRAM</a:t>
            </a:r>
            <a:endParaRPr/>
          </a:p>
        </p:txBody>
      </p:sp>
      <p:sp>
        <p:nvSpPr>
          <p:cNvPr id="248" name="Google Shape;248;p36"/>
          <p:cNvSpPr txBox="1"/>
          <p:nvPr>
            <p:ph idx="1" type="body"/>
          </p:nvPr>
        </p:nvSpPr>
        <p:spPr>
          <a:xfrm>
            <a:off x="311700" y="1059300"/>
            <a:ext cx="8678400" cy="3024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444444"/>
                </a:solidFill>
                <a:highlight>
                  <a:srgbClr val="FFFFFF"/>
                </a:highlight>
              </a:rPr>
              <a:t>All types of VRAM are special arrangements of dynamic RAM (DRAM). VRAM is a </a:t>
            </a:r>
            <a:r>
              <a:rPr lang="en">
                <a:solidFill>
                  <a:srgbClr val="444444"/>
                </a:solidFill>
                <a:highlight>
                  <a:schemeClr val="accent4"/>
                </a:highlight>
              </a:rPr>
              <a:t>buffer </a:t>
            </a:r>
            <a:r>
              <a:rPr lang="en">
                <a:solidFill>
                  <a:srgbClr val="444444"/>
                </a:solidFill>
                <a:highlight>
                  <a:srgbClr val="FFFFFF"/>
                </a:highlight>
              </a:rPr>
              <a:t>between the computer processor and the display and is often called the </a:t>
            </a:r>
            <a:r>
              <a:rPr lang="en">
                <a:solidFill>
                  <a:srgbClr val="444444"/>
                </a:solidFill>
                <a:highlight>
                  <a:schemeClr val="accent6"/>
                </a:highlight>
              </a:rPr>
              <a:t>frame buffer</a:t>
            </a:r>
            <a:r>
              <a:rPr lang="en">
                <a:solidFill>
                  <a:srgbClr val="444444"/>
                </a:solidFill>
                <a:highlight>
                  <a:srgbClr val="FFFFFF"/>
                </a:highlight>
              </a:rPr>
              <a:t>. When images are to be sent to the display, they are first read by the processor as data from some form of main (non-video) RAM and then written to VRAM.</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From VRAM, the data is sent as a digital signal via a digital video interface or high-definition multimedia interface, or HDMI</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Homework - https://www.youtube.com/watch?v=XKxs0_BXWiU</a:t>
            </a:r>
            <a:endParaRPr>
              <a:solidFill>
                <a:srgbClr val="444444"/>
              </a:solidFill>
              <a:highlight>
                <a:srgbClr val="FFFFFF"/>
              </a:highlight>
            </a:endParaRPr>
          </a:p>
        </p:txBody>
      </p:sp>
      <p:sp>
        <p:nvSpPr>
          <p:cNvPr id="249" name="Google Shape;249;p36"/>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250" name="Google Shape;250;p36"/>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SIMM vs DIMM</a:t>
            </a:r>
            <a:endParaRPr/>
          </a:p>
        </p:txBody>
      </p:sp>
      <p:sp>
        <p:nvSpPr>
          <p:cNvPr id="256" name="Google Shape;256;p37"/>
          <p:cNvSpPr txBox="1"/>
          <p:nvPr>
            <p:ph idx="1" type="body"/>
          </p:nvPr>
        </p:nvSpPr>
        <p:spPr>
          <a:xfrm>
            <a:off x="311700" y="1059300"/>
            <a:ext cx="8678400" cy="3024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444444"/>
                </a:solidFill>
                <a:highlight>
                  <a:srgbClr val="FFFFFF"/>
                </a:highlight>
              </a:rPr>
              <a:t>A SIMM (Single In-Line Memory Module) has a single line of connectors. Connectors on each side of the Board are the same. SIMMs are now obsolete.</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rPr lang="en">
                <a:solidFill>
                  <a:srgbClr val="444444"/>
                </a:solidFill>
                <a:highlight>
                  <a:srgbClr val="FFFFFF"/>
                </a:highlight>
              </a:rPr>
              <a:t>A DIMM (Dual In-Line Memory Module) has 2 lines of connectors. Connectors on each side of the board are not connected. The most popular types of DIMM are DDR, DDR2 and DDR3</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a:p>
            <a:pPr indent="0" lvl="0" marL="0" rtl="0" algn="l">
              <a:lnSpc>
                <a:spcPct val="115000"/>
              </a:lnSpc>
              <a:spcBef>
                <a:spcPts val="0"/>
              </a:spcBef>
              <a:spcAft>
                <a:spcPts val="0"/>
              </a:spcAft>
              <a:buNone/>
            </a:pPr>
            <a:r>
              <a:t/>
            </a:r>
            <a:endParaRPr>
              <a:solidFill>
                <a:srgbClr val="444444"/>
              </a:solidFill>
              <a:highlight>
                <a:srgbClr val="FFFFFF"/>
              </a:highlight>
            </a:endParaRPr>
          </a:p>
        </p:txBody>
      </p:sp>
      <p:sp>
        <p:nvSpPr>
          <p:cNvPr id="257" name="Google Shape;257;p37"/>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258" name="Google Shape;258;p37"/>
          <p:cNvPicPr preferRelativeResize="0"/>
          <p:nvPr/>
        </p:nvPicPr>
        <p:blipFill>
          <a:blip r:embed="rId3">
            <a:alphaModFix/>
          </a:blip>
          <a:stretch>
            <a:fillRect/>
          </a:stretch>
        </p:blipFill>
        <p:spPr>
          <a:xfrm>
            <a:off x="8190150" y="4283600"/>
            <a:ext cx="684600" cy="684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SIMM vs DIMM</a:t>
            </a:r>
            <a:endParaRPr/>
          </a:p>
        </p:txBody>
      </p:sp>
      <p:sp>
        <p:nvSpPr>
          <p:cNvPr id="264" name="Google Shape;264;p38"/>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265" name="Google Shape;265;p38"/>
          <p:cNvPicPr preferRelativeResize="0"/>
          <p:nvPr/>
        </p:nvPicPr>
        <p:blipFill>
          <a:blip r:embed="rId3">
            <a:alphaModFix/>
          </a:blip>
          <a:stretch>
            <a:fillRect/>
          </a:stretch>
        </p:blipFill>
        <p:spPr>
          <a:xfrm>
            <a:off x="8190150" y="4283600"/>
            <a:ext cx="684600" cy="684600"/>
          </a:xfrm>
          <a:prstGeom prst="rect">
            <a:avLst/>
          </a:prstGeom>
          <a:noFill/>
          <a:ln>
            <a:noFill/>
          </a:ln>
        </p:spPr>
      </p:pic>
      <p:pic>
        <p:nvPicPr>
          <p:cNvPr id="266" name="Google Shape;266;p38"/>
          <p:cNvPicPr preferRelativeResize="0"/>
          <p:nvPr/>
        </p:nvPicPr>
        <p:blipFill>
          <a:blip r:embed="rId4">
            <a:alphaModFix/>
          </a:blip>
          <a:stretch>
            <a:fillRect/>
          </a:stretch>
        </p:blipFill>
        <p:spPr>
          <a:xfrm>
            <a:off x="311700" y="1170125"/>
            <a:ext cx="3060820" cy="3381100"/>
          </a:xfrm>
          <a:prstGeom prst="rect">
            <a:avLst/>
          </a:prstGeom>
          <a:noFill/>
          <a:ln>
            <a:noFill/>
          </a:ln>
        </p:spPr>
      </p:pic>
      <p:sp>
        <p:nvSpPr>
          <p:cNvPr id="267" name="Google Shape;267;p38"/>
          <p:cNvSpPr txBox="1"/>
          <p:nvPr/>
        </p:nvSpPr>
        <p:spPr>
          <a:xfrm>
            <a:off x="4073250" y="540325"/>
            <a:ext cx="4116900" cy="33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t>There are two type of SIMM, one with 30 pins and another one is with 72 pins.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DIMM supports 64 bit channel for data transferring while SIMM supports only maximum of 32 bit channel.</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a:p>
            <a:pPr indent="0" lvl="0" marL="0" rtl="0" algn="l">
              <a:spcBef>
                <a:spcPts val="0"/>
              </a:spcBef>
              <a:spcAft>
                <a:spcPts val="0"/>
              </a:spcAft>
              <a:buClr>
                <a:schemeClr val="dk1"/>
              </a:buClr>
              <a:buSzPts val="1100"/>
              <a:buFont typeface="Arial"/>
              <a:buNone/>
            </a:pPr>
            <a:r>
              <a:rPr lang="en" sz="1700"/>
              <a:t>DIMM slots support DDR, DDR2, DDR3, DDR4 and DDR5 RAM.</a:t>
            </a:r>
            <a:endParaRPr sz="1700"/>
          </a:p>
          <a:p>
            <a:pPr indent="0" lvl="0" marL="0" rtl="0" algn="l">
              <a:spcBef>
                <a:spcPts val="0"/>
              </a:spcBef>
              <a:spcAft>
                <a:spcPts val="0"/>
              </a:spcAft>
              <a:buNone/>
            </a:pPr>
            <a:r>
              <a:t/>
            </a:r>
            <a:endParaRPr sz="17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a:t>
            </a:r>
            <a:endParaRPr/>
          </a:p>
        </p:txBody>
      </p:sp>
      <p:sp>
        <p:nvSpPr>
          <p:cNvPr id="273" name="Google Shape;273;p39"/>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pic>
        <p:nvPicPr>
          <p:cNvPr id="274" name="Google Shape;274;p39"/>
          <p:cNvPicPr preferRelativeResize="0"/>
          <p:nvPr/>
        </p:nvPicPr>
        <p:blipFill>
          <a:blip r:embed="rId3">
            <a:alphaModFix/>
          </a:blip>
          <a:stretch>
            <a:fillRect/>
          </a:stretch>
        </p:blipFill>
        <p:spPr>
          <a:xfrm>
            <a:off x="8190150" y="4283600"/>
            <a:ext cx="684600" cy="684600"/>
          </a:xfrm>
          <a:prstGeom prst="rect">
            <a:avLst/>
          </a:prstGeom>
          <a:noFill/>
          <a:ln>
            <a:noFill/>
          </a:ln>
        </p:spPr>
      </p:pic>
      <p:sp>
        <p:nvSpPr>
          <p:cNvPr id="275" name="Google Shape;275;p39"/>
          <p:cNvSpPr txBox="1"/>
          <p:nvPr/>
        </p:nvSpPr>
        <p:spPr>
          <a:xfrm>
            <a:off x="2298475" y="540325"/>
            <a:ext cx="6639900" cy="416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lang="en" sz="1900">
                <a:solidFill>
                  <a:schemeClr val="dk1"/>
                </a:solidFill>
              </a:rPr>
              <a:t>DDR SDRAM</a:t>
            </a:r>
            <a:endParaRPr sz="1900">
              <a:solidFill>
                <a:schemeClr val="dk1"/>
              </a:solidFill>
            </a:endParaRPr>
          </a:p>
          <a:p>
            <a:pPr indent="0" lvl="0" marL="0" rtl="0" algn="l">
              <a:lnSpc>
                <a:spcPct val="115000"/>
              </a:lnSpc>
              <a:spcBef>
                <a:spcPts val="2400"/>
              </a:spcBef>
              <a:spcAft>
                <a:spcPts val="0"/>
              </a:spcAft>
              <a:buNone/>
            </a:pPr>
            <a:r>
              <a:rPr lang="en" sz="1900">
                <a:solidFill>
                  <a:schemeClr val="dk1"/>
                </a:solidFill>
              </a:rPr>
              <a:t>Double Data Rate Synchronous Dynamic Random-Access Memory (DDR SDRAM) is a double data rate (DDR) synchronous dynamic </a:t>
            </a:r>
            <a:r>
              <a:rPr lang="en" sz="1900">
                <a:solidFill>
                  <a:schemeClr val="dk1"/>
                </a:solidFill>
              </a:rPr>
              <a:t>r</a:t>
            </a:r>
            <a:r>
              <a:rPr lang="en" sz="1900">
                <a:solidFill>
                  <a:schemeClr val="dk1"/>
                </a:solidFill>
              </a:rPr>
              <a:t>andom-access memory (SDRAM) class of memory integrated circuits used in computers. DDR SDRAM, also retroactively called DDR1 SDRAM,</a:t>
            </a:r>
            <a:endParaRPr sz="1900">
              <a:solidFill>
                <a:schemeClr val="dk1"/>
              </a:solidFill>
            </a:endParaRPr>
          </a:p>
          <a:p>
            <a:pPr indent="0" lvl="0" marL="0" rtl="0" algn="l">
              <a:lnSpc>
                <a:spcPct val="115000"/>
              </a:lnSpc>
              <a:spcBef>
                <a:spcPts val="2400"/>
              </a:spcBef>
              <a:spcAft>
                <a:spcPts val="0"/>
              </a:spcAft>
              <a:buNone/>
            </a:pPr>
            <a:r>
              <a:rPr lang="en" sz="1900">
                <a:solidFill>
                  <a:schemeClr val="dk1"/>
                </a:solidFill>
              </a:rPr>
              <a:t>DDR2, DDR3, DDR4 and DDR5 memory modules</a:t>
            </a:r>
            <a:endParaRPr sz="1900">
              <a:solidFill>
                <a:schemeClr val="dk1"/>
              </a:solidFill>
            </a:endParaRPr>
          </a:p>
          <a:p>
            <a:pPr indent="0" lvl="0" marL="0" rtl="0" algn="l">
              <a:lnSpc>
                <a:spcPct val="115000"/>
              </a:lnSpc>
              <a:spcBef>
                <a:spcPts val="2400"/>
              </a:spcBef>
              <a:spcAft>
                <a:spcPts val="0"/>
              </a:spcAft>
              <a:buNone/>
            </a:pPr>
            <a:r>
              <a:t/>
            </a:r>
            <a:endParaRPr sz="1900">
              <a:solidFill>
                <a:schemeClr val="dk1"/>
              </a:solidFill>
            </a:endParaRPr>
          </a:p>
          <a:p>
            <a:pPr indent="0" lvl="0" marL="0" rtl="0" algn="l">
              <a:spcBef>
                <a:spcPts val="600"/>
              </a:spcBef>
              <a:spcAft>
                <a:spcPts val="0"/>
              </a:spcAft>
              <a:buClr>
                <a:schemeClr val="dk1"/>
              </a:buClr>
              <a:buSzPts val="1100"/>
              <a:buFont typeface="Arial"/>
              <a:buNone/>
            </a:pPr>
            <a:r>
              <a:t/>
            </a:r>
            <a:endParaRPr sz="19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0"/>
          <p:cNvSpPr txBox="1"/>
          <p:nvPr>
            <p:ph type="title"/>
          </p:nvPr>
        </p:nvSpPr>
        <p:spPr>
          <a:xfrm>
            <a:off x="483900" y="342575"/>
            <a:ext cx="2614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Materials</a:t>
            </a:r>
            <a:endParaRPr/>
          </a:p>
        </p:txBody>
      </p:sp>
      <p:sp>
        <p:nvSpPr>
          <p:cNvPr id="281" name="Google Shape;281;p40"/>
          <p:cNvSpPr txBox="1"/>
          <p:nvPr/>
        </p:nvSpPr>
        <p:spPr>
          <a:xfrm>
            <a:off x="230675" y="4703625"/>
            <a:ext cx="8821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2"/>
                </a:solidFill>
              </a:rPr>
              <a:t>Basic Concepts of Computer Science          						 a.pradeep@newuzbekistanuniversity.uz</a:t>
            </a:r>
            <a:endParaRPr sz="1200"/>
          </a:p>
        </p:txBody>
      </p:sp>
      <p:sp>
        <p:nvSpPr>
          <p:cNvPr id="282" name="Google Shape;282;p40"/>
          <p:cNvSpPr txBox="1"/>
          <p:nvPr>
            <p:ph idx="1" type="body"/>
          </p:nvPr>
        </p:nvSpPr>
        <p:spPr>
          <a:xfrm>
            <a:off x="550700" y="3985950"/>
            <a:ext cx="3888300" cy="780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75"/>
              <a:buNone/>
            </a:pPr>
            <a:r>
              <a:rPr b="1" lang="en" sz="2600">
                <a:solidFill>
                  <a:schemeClr val="dk1"/>
                </a:solidFill>
                <a:latin typeface="Roboto"/>
                <a:ea typeface="Roboto"/>
                <a:cs typeface="Roboto"/>
                <a:sym typeface="Roboto"/>
              </a:rPr>
              <a:t>cutt.ly/YRl9y6d</a:t>
            </a:r>
            <a:endParaRPr b="1" sz="2600">
              <a:solidFill>
                <a:schemeClr val="dk1"/>
              </a:solidFill>
              <a:latin typeface="Roboto"/>
              <a:ea typeface="Roboto"/>
              <a:cs typeface="Roboto"/>
              <a:sym typeface="Roboto"/>
            </a:endParaRPr>
          </a:p>
        </p:txBody>
      </p:sp>
      <p:pic>
        <p:nvPicPr>
          <p:cNvPr id="283" name="Google Shape;283;p40"/>
          <p:cNvPicPr preferRelativeResize="0"/>
          <p:nvPr/>
        </p:nvPicPr>
        <p:blipFill>
          <a:blip r:embed="rId3">
            <a:alphaModFix/>
          </a:blip>
          <a:stretch>
            <a:fillRect/>
          </a:stretch>
        </p:blipFill>
        <p:spPr>
          <a:xfrm>
            <a:off x="483900" y="915275"/>
            <a:ext cx="2471575" cy="3001200"/>
          </a:xfrm>
          <a:prstGeom prst="rect">
            <a:avLst/>
          </a:prstGeom>
          <a:noFill/>
          <a:ln>
            <a:noFill/>
          </a:ln>
        </p:spPr>
      </p:pic>
      <p:pic>
        <p:nvPicPr>
          <p:cNvPr id="284" name="Google Shape;284;p40"/>
          <p:cNvPicPr preferRelativeResize="0"/>
          <p:nvPr/>
        </p:nvPicPr>
        <p:blipFill>
          <a:blip r:embed="rId4">
            <a:alphaModFix/>
          </a:blip>
          <a:stretch>
            <a:fillRect/>
          </a:stretch>
        </p:blipFill>
        <p:spPr>
          <a:xfrm>
            <a:off x="8190150" y="4283600"/>
            <a:ext cx="684600" cy="684600"/>
          </a:xfrm>
          <a:prstGeom prst="rect">
            <a:avLst/>
          </a:prstGeom>
          <a:noFill/>
          <a:ln>
            <a:noFill/>
          </a:ln>
        </p:spPr>
      </p:pic>
      <p:sp>
        <p:nvSpPr>
          <p:cNvPr id="285" name="Google Shape;285;p40"/>
          <p:cNvSpPr txBox="1"/>
          <p:nvPr>
            <p:ph idx="1" type="body"/>
          </p:nvPr>
        </p:nvSpPr>
        <p:spPr>
          <a:xfrm>
            <a:off x="5457275" y="4072325"/>
            <a:ext cx="3595200" cy="780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75"/>
              <a:buNone/>
            </a:pPr>
            <a:r>
              <a:rPr b="1" lang="en" sz="2600">
                <a:solidFill>
                  <a:schemeClr val="dk1"/>
                </a:solidFill>
                <a:latin typeface="Roboto"/>
                <a:ea typeface="Roboto"/>
                <a:cs typeface="Roboto"/>
                <a:sym typeface="Roboto"/>
              </a:rPr>
              <a:t>t.me/basicNUU</a:t>
            </a:r>
            <a:endParaRPr b="1" sz="2600">
              <a:solidFill>
                <a:schemeClr val="dk1"/>
              </a:solidFill>
              <a:latin typeface="Roboto"/>
              <a:ea typeface="Roboto"/>
              <a:cs typeface="Roboto"/>
              <a:sym typeface="Roboto"/>
            </a:endParaRPr>
          </a:p>
        </p:txBody>
      </p:sp>
      <p:sp>
        <p:nvSpPr>
          <p:cNvPr id="286" name="Google Shape;286;p40"/>
          <p:cNvSpPr txBox="1"/>
          <p:nvPr>
            <p:ph type="title"/>
          </p:nvPr>
        </p:nvSpPr>
        <p:spPr>
          <a:xfrm>
            <a:off x="5278025" y="342575"/>
            <a:ext cx="2614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Telegram Group</a:t>
            </a:r>
            <a:endParaRPr/>
          </a:p>
        </p:txBody>
      </p:sp>
      <p:pic>
        <p:nvPicPr>
          <p:cNvPr id="287" name="Google Shape;287;p40"/>
          <p:cNvPicPr preferRelativeResize="0"/>
          <p:nvPr/>
        </p:nvPicPr>
        <p:blipFill>
          <a:blip r:embed="rId5">
            <a:alphaModFix/>
          </a:blip>
          <a:stretch>
            <a:fillRect/>
          </a:stretch>
        </p:blipFill>
        <p:spPr>
          <a:xfrm>
            <a:off x="5278025" y="837350"/>
            <a:ext cx="2750584" cy="31570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